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Share</c:v>
                </c:pt>
              </c:strCache>
            </c:strRef>
          </c:tx>
          <c:spPr>
            <a:solidFill>
              <a:srgbClr val="6C727B"/>
            </a:solidFill>
            <a:effectLst/>
          </c:spPr>
          <c:invertIfNegative val="0"/>
          <c:dLbls>
            <c:numFmt formatCode="0.0&quot;%&quot;" sourceLinked="0"/>
            <c:txPr>
              <a:bodyPr/>
              <a:lstStyle/>
              <a:p>
                <a:pPr>
                  <a:defRPr b="1" i="0" strike="noStrike" sz="1400" u="none">
                    <a:solidFill>
                      <a:srgbClr val="12161B"/>
                    </a:solidFill>
                    <a:latin typeface="Arial"/>
                  </a:defRPr>
                </a:pPr>
              </a:p>
            </c:txPr>
            <c:showLegendKey val="0"/>
            <c:showVal val="1"/>
            <c:showCatName val="0"/>
            <c:showSerName val="0"/>
            <c:showPercent val="0"/>
            <c:showBubbleSize val="0"/>
            <c:showLeaderLines val="0"/>
          </c:dLbls>
          <c:dPt>
            <c:idx val="0"/>
            <c:invertIfNegative val="0"/>
            <c:bubble3D val="0"/>
            <c:spPr>
              <a:solidFill>
                <a:srgbClr val="6C727B"/>
              </a:solidFill>
              <a:effectLst/>
            </c:spPr>
          </c:dPt>
          <c:dPt>
            <c:idx val="1"/>
            <c:invertIfNegative val="0"/>
            <c:bubble3D val="0"/>
            <c:spPr>
              <a:solidFill>
                <a:srgbClr val="A86D16"/>
              </a:solidFill>
              <a:effectLst/>
            </c:spPr>
          </c:dPt>
          <c:cat>
            <c:multiLvlStrRef>
              <c:f>Sheet1!$A$2:$A$3</c:f>
              <c:multiLvlStrCache>
                <c:ptCount val="2"/>
                <c:lvl>
                  <c:pt idx="0">
                    <c:v>Share of the calendar
under blackout</c:v>
                  </c:pt>
                  <c:pt idx="1">
                    <c:v>Share of speeches
given in blackout</c:v>
                  </c:pt>
                </c:lvl>
              </c:multiLvlStrCache>
            </c:multiLvlStrRef>
          </c:cat>
          <c:val>
            <c:numRef>
              <c:f>Sheet1!$B$2:$B$3</c:f>
              <c:numCache>
                <c:formatCode>General</c:formatCode>
                <c:ptCount val="2"/>
                <c:pt idx="0">
                  <c:v>28.4</c:v>
                </c:pt>
                <c:pt idx="1">
                  <c:v>4.9</c:v>
                </c:pt>
              </c:numCache>
            </c:numRef>
          </c:val>
        </c:ser>
        <c:dLbls>
          <c:numFmt formatCode="0.0&quot;%&quot;" sourceLinked="0"/>
          <c:txPr>
            <a:bodyPr/>
            <a:lstStyle/>
            <a:p>
              <a:pPr>
                <a:defRPr b="1" i="0" strike="noStrike" sz="1400" u="none">
                  <a:solidFill>
                    <a:srgbClr val="12161B"/>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2161B"/>
                </a:solidFill>
                <a:latin typeface="Arial"/>
              </a:defRPr>
            </a:pPr>
            <a:endParaRPr lang="en-US"/>
          </a:p>
        </c:txPr>
        <c:crossAx val="2094734552"/>
        <c:crosses val="autoZero"/>
        <c:auto val="1"/>
        <c:lblAlgn val="ctr"/>
        <c:noMultiLvlLbl val="1"/>
      </c:catAx>
      <c:valAx>
        <c:axId val="2094734552"/>
        <c:scaling>
          <c:orientation val="minMax"/>
          <c:max val="36"/>
          <c:min val="0"/>
        </c:scaling>
        <c:delete val="0"/>
        <c:axPos val="b"/>
        <c:majorGridlines>
          <c:spPr>
            <a:ln w="12700" cap="flat">
              <a:solidFill>
                <a:srgbClr val="DEDFDA"/>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C727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Theroux Technologies. Not lie detection — divergence from a speaker’s own norm.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Unarguable, needs no linguistics. Also explains why n is small.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61B"/>
        </a:solidFill>
      </p:bgPr>
    </p:bg>
    <p:spTree>
      <p:nvGrpSpPr>
        <p:cNvPr id="1" name=""/>
        <p:cNvGrpSpPr/>
        <p:nvPr/>
      </p:nvGrpSpPr>
      <p:grpSpPr>
        <a:xfrm>
          <a:off x="0" y="0"/>
          <a:ext cx="0" cy="0"/>
          <a:chOff x="0" y="0"/>
          <a:chExt cx="0" cy="0"/>
        </a:xfrm>
      </p:grpSpPr>
      <p:sp>
        <p:nvSpPr>
          <p:cNvPr id="2" name="Text 0"/>
          <p:cNvSpPr txBox="1"/>
          <p:nvPr/>
        </p:nvSpPr>
        <p:spPr>
          <a:xfrm>
            <a:off x="822960" y="2148840"/>
            <a:ext cx="10515600" cy="1188720"/>
          </a:xfrm>
          <a:prstGeom prst="rect">
            <a:avLst/>
          </a:prstGeom>
          <a:noFill/>
          <a:ln/>
        </p:spPr>
        <p:txBody>
          <a:bodyPr wrap="square" lIns="0" tIns="0" rIns="0" bIns="0" rtlCol="0" anchor="ctr"/>
          <a:lstStyle/>
          <a:p>
            <a:pPr indent="0" marL="0">
              <a:buNone/>
            </a:pPr>
            <a:r>
              <a:rPr lang="en-US" sz="6400" b="1" dirty="0">
                <a:solidFill>
                  <a:srgbClr val="FFFFFF"/>
                </a:solidFill>
                <a:latin typeface="Cambria" pitchFamily="34" charset="0"/>
                <a:ea typeface="Cambria" pitchFamily="34" charset="-122"/>
                <a:cs typeface="Cambria" pitchFamily="34" charset="-120"/>
              </a:rPr>
              <a:t>Theroux</a:t>
            </a:r>
            <a:endParaRPr lang="en-US" sz="6400" dirty="0"/>
          </a:p>
        </p:txBody>
      </p:sp>
      <p:sp>
        <p:nvSpPr>
          <p:cNvPr id="3" name="Text 1"/>
          <p:cNvSpPr txBox="1"/>
          <p:nvPr/>
        </p:nvSpPr>
        <p:spPr>
          <a:xfrm>
            <a:off x="822960" y="3310128"/>
            <a:ext cx="10515600" cy="548640"/>
          </a:xfrm>
          <a:prstGeom prst="rect">
            <a:avLst/>
          </a:prstGeom>
          <a:noFill/>
          <a:ln/>
        </p:spPr>
        <p:txBody>
          <a:bodyPr wrap="square" lIns="0" tIns="0" rIns="0" bIns="0" rtlCol="0" anchor="ctr"/>
          <a:lstStyle/>
          <a:p>
            <a:pPr indent="0" marL="0">
              <a:buNone/>
            </a:pPr>
            <a:r>
              <a:rPr lang="en-US" sz="2700" i="1" dirty="0">
                <a:solidFill>
                  <a:srgbClr val="A86D16"/>
                </a:solidFill>
                <a:latin typeface="Cambria" pitchFamily="34" charset="0"/>
                <a:ea typeface="Cambria" pitchFamily="34" charset="-122"/>
                <a:cs typeface="Cambria" pitchFamily="34" charset="-120"/>
              </a:rPr>
              <a:t>Measuring constrained disclosure</a:t>
            </a:r>
            <a:endParaRPr lang="en-US" sz="2700" dirty="0"/>
          </a:p>
        </p:txBody>
      </p:sp>
      <p:sp>
        <p:nvSpPr>
          <p:cNvPr id="4" name="Text 2"/>
          <p:cNvSpPr txBox="1"/>
          <p:nvPr/>
        </p:nvSpPr>
        <p:spPr>
          <a:xfrm>
            <a:off x="822960" y="4023360"/>
            <a:ext cx="8778240" cy="914400"/>
          </a:xfrm>
          <a:prstGeom prst="rect">
            <a:avLst/>
          </a:prstGeom>
          <a:noFill/>
          <a:ln/>
        </p:spPr>
        <p:txBody>
          <a:bodyPr wrap="square" lIns="0" tIns="0" rIns="0" bIns="0" rtlCol="0" anchor="ctr"/>
          <a:lstStyle/>
          <a:p>
            <a:pPr indent="0" marL="0">
              <a:lnSpc>
                <a:spcPct val="125000"/>
              </a:lnSpc>
              <a:buNone/>
            </a:pPr>
            <a:r>
              <a:rPr lang="en-US" sz="1450" dirty="0">
                <a:solidFill>
                  <a:srgbClr val="B6BCC4"/>
                </a:solidFill>
                <a:latin typeface="Calibri" pitchFamily="34" charset="0"/>
                <a:ea typeface="Calibri" pitchFamily="34" charset="-122"/>
                <a:cs typeface="Calibri" pitchFamily="34" charset="-120"/>
              </a:rPr>
              <a:t>The linguistic residue left when a speaker holds material information they cannot state directly. Every statement is scored against that speaker’s own longitudinal baseline — not an absolute standard.</a:t>
            </a:r>
            <a:endParaRPr lang="en-US" sz="1450" dirty="0"/>
          </a:p>
        </p:txBody>
      </p:sp>
      <p:sp>
        <p:nvSpPr>
          <p:cNvPr id="5" name="Text 3"/>
          <p:cNvSpPr txBox="1"/>
          <p:nvPr/>
        </p:nvSpPr>
        <p:spPr>
          <a:xfrm>
            <a:off x="822960" y="5806440"/>
            <a:ext cx="7315200" cy="365760"/>
          </a:xfrm>
          <a:prstGeom prst="rect">
            <a:avLst/>
          </a:prstGeom>
          <a:noFill/>
          <a:ln/>
        </p:spPr>
        <p:txBody>
          <a:bodyPr wrap="square" lIns="0" tIns="0" rIns="0" bIns="0" rtlCol="0" anchor="ctr"/>
          <a:lstStyle/>
          <a:p>
            <a:pPr indent="0" marL="0">
              <a:buNone/>
            </a:pPr>
            <a:r>
              <a:rPr lang="en-US" sz="1100" dirty="0">
                <a:solidFill>
                  <a:srgbClr val="6C727B"/>
                </a:solidFill>
                <a:latin typeface="Courier New" pitchFamily="34" charset="0"/>
                <a:ea typeface="Courier New" pitchFamily="34" charset="-122"/>
                <a:cs typeface="Courier New" pitchFamily="34" charset="-120"/>
              </a:rPr>
              <a:t>Palantir Startup Fellowship · Cohort 003</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6F3"/>
        </a:solidFill>
      </p:bgPr>
    </p:bg>
    <p:spTree>
      <p:nvGrpSpPr>
        <p:cNvPr id="1" name=""/>
        <p:cNvGrpSpPr/>
        <p:nvPr/>
      </p:nvGrpSpPr>
      <p:grpSpPr>
        <a:xfrm>
          <a:off x="0" y="0"/>
          <a:ext cx="0" cy="0"/>
          <a:chOff x="0" y="0"/>
          <a:chExt cx="0" cy="0"/>
        </a:xfrm>
      </p:grpSpPr>
      <p:sp>
        <p:nvSpPr>
          <p:cNvPr id="2" name="Text 0"/>
          <p:cNvSpPr txBox="1"/>
          <p:nvPr/>
        </p:nvSpPr>
        <p:spPr>
          <a:xfrm>
            <a:off x="640080" y="566928"/>
            <a:ext cx="10881360" cy="822960"/>
          </a:xfrm>
          <a:prstGeom prst="rect">
            <a:avLst/>
          </a:prstGeom>
          <a:noFill/>
          <a:ln/>
        </p:spPr>
        <p:txBody>
          <a:bodyPr wrap="square" lIns="0" tIns="0" rIns="0" bIns="0" rtlCol="0" anchor="ctr"/>
          <a:lstStyle/>
          <a:p>
            <a:pPr indent="0" marL="0">
              <a:buNone/>
            </a:pPr>
            <a:r>
              <a:rPr lang="en-US" sz="3800" b="1" dirty="0">
                <a:solidFill>
                  <a:srgbClr val="12161B"/>
                </a:solidFill>
                <a:latin typeface="Cambria" pitchFamily="34" charset="0"/>
                <a:ea typeface="Cambria" pitchFamily="34" charset="-122"/>
                <a:cs typeface="Cambria" pitchFamily="34" charset="-120"/>
              </a:rPr>
              <a:t>The question is not “is this evasive”</a:t>
            </a:r>
            <a:endParaRPr lang="en-US" sz="3800" dirty="0"/>
          </a:p>
        </p:txBody>
      </p:sp>
      <p:sp>
        <p:nvSpPr>
          <p:cNvPr id="3" name="Text 1"/>
          <p:cNvSpPr txBox="1"/>
          <p:nvPr/>
        </p:nvSpPr>
        <p:spPr>
          <a:xfrm>
            <a:off x="640080" y="1389888"/>
            <a:ext cx="10881360" cy="457200"/>
          </a:xfrm>
          <a:prstGeom prst="rect">
            <a:avLst/>
          </a:prstGeom>
          <a:noFill/>
          <a:ln/>
        </p:spPr>
        <p:txBody>
          <a:bodyPr wrap="square" lIns="0" tIns="0" rIns="0" bIns="0" rtlCol="0" anchor="ctr"/>
          <a:lstStyle/>
          <a:p>
            <a:pPr indent="0" marL="0">
              <a:buNone/>
            </a:pPr>
            <a:r>
              <a:rPr lang="en-US" sz="1500" dirty="0">
                <a:solidFill>
                  <a:srgbClr val="6C727B"/>
                </a:solidFill>
                <a:latin typeface="Calibri" pitchFamily="34" charset="0"/>
                <a:ea typeface="Calibri" pitchFamily="34" charset="-122"/>
                <a:cs typeface="Calibri" pitchFamily="34" charset="-120"/>
              </a:rPr>
              <a:t>It is “is this evasive — for this person”</a:t>
            </a:r>
            <a:endParaRPr lang="en-US" sz="1500" dirty="0"/>
          </a:p>
        </p:txBody>
      </p:sp>
      <p:sp>
        <p:nvSpPr>
          <p:cNvPr id="4" name="Shape 2"/>
          <p:cNvSpPr/>
          <p:nvPr/>
        </p:nvSpPr>
        <p:spPr>
          <a:xfrm>
            <a:off x="640080" y="2194560"/>
            <a:ext cx="10881360" cy="1325880"/>
          </a:xfrm>
          <a:prstGeom prst="rect">
            <a:avLst/>
          </a:prstGeom>
          <a:solidFill>
            <a:srgbClr val="FFFFFF"/>
          </a:solidFill>
          <a:ln w="12700">
            <a:solidFill>
              <a:srgbClr val="DEDFDA"/>
            </a:solidFill>
            <a:prstDash val="solid"/>
          </a:ln>
          <a:effectLst>
            <a:outerShdw sx="100000" sy="100000" kx="0" ky="0" algn="bl" rotWithShape="0" blurRad="177800" dist="25400" dir="5400000">
              <a:srgbClr val="000000">
                <a:alpha val="7000"/>
              </a:srgbClr>
            </a:outerShdw>
          </a:effectLst>
        </p:spPr>
      </p:sp>
      <p:sp>
        <p:nvSpPr>
          <p:cNvPr id="5" name="Text 3"/>
          <p:cNvSpPr txBox="1"/>
          <p:nvPr/>
        </p:nvSpPr>
        <p:spPr>
          <a:xfrm>
            <a:off x="914400" y="2377440"/>
            <a:ext cx="2834640" cy="365760"/>
          </a:xfrm>
          <a:prstGeom prst="rect">
            <a:avLst/>
          </a:prstGeom>
          <a:noFill/>
          <a:ln/>
        </p:spPr>
        <p:txBody>
          <a:bodyPr wrap="square" lIns="0" tIns="0" rIns="0" bIns="0" rtlCol="0" anchor="ctr"/>
          <a:lstStyle/>
          <a:p>
            <a:pPr indent="0" marL="0">
              <a:buNone/>
            </a:pPr>
            <a:r>
              <a:rPr lang="en-US" sz="1600" b="1" dirty="0">
                <a:solidFill>
                  <a:srgbClr val="A2412C"/>
                </a:solidFill>
                <a:latin typeface="Calibri" pitchFamily="34" charset="0"/>
                <a:ea typeface="Calibri" pitchFamily="34" charset="-122"/>
                <a:cs typeface="Calibri" pitchFamily="34" charset="-120"/>
              </a:rPr>
              <a:t>Absolute scoring</a:t>
            </a:r>
            <a:endParaRPr lang="en-US" sz="1600" dirty="0"/>
          </a:p>
        </p:txBody>
      </p:sp>
      <p:sp>
        <p:nvSpPr>
          <p:cNvPr id="6" name="Text 4"/>
          <p:cNvSpPr txBox="1"/>
          <p:nvPr/>
        </p:nvSpPr>
        <p:spPr>
          <a:xfrm>
            <a:off x="3840480" y="2359152"/>
            <a:ext cx="7406640" cy="1051560"/>
          </a:xfrm>
          <a:prstGeom prst="rect">
            <a:avLst/>
          </a:prstGeom>
          <a:noFill/>
          <a:ln/>
        </p:spPr>
        <p:txBody>
          <a:bodyPr wrap="square" lIns="0" tIns="0" rIns="0" bIns="0" rtlCol="0" anchor="ctr"/>
          <a:lstStyle/>
          <a:p>
            <a:pPr indent="0" marL="0">
              <a:lnSpc>
                <a:spcPct val="130000"/>
              </a:lnSpc>
              <a:buNone/>
            </a:pPr>
            <a:r>
              <a:rPr lang="en-US" sz="1300" dirty="0">
                <a:solidFill>
                  <a:srgbClr val="12161B"/>
                </a:solidFill>
                <a:latin typeface="Calibri" pitchFamily="34" charset="0"/>
                <a:ea typeface="Calibri" pitchFamily="34" charset="-122"/>
                <a:cs typeface="Calibri" pitchFamily="34" charset="-120"/>
              </a:rPr>
              <a:t>What every transcript-sentiment vendor ships. One threshold for everyone. A habitually cautious speaker is permanently flagged; a habitually precise one has to become extraordinarily vague before anyone notices.</a:t>
            </a:r>
            <a:endParaRPr lang="en-US" sz="1300" dirty="0"/>
          </a:p>
        </p:txBody>
      </p:sp>
      <p:sp>
        <p:nvSpPr>
          <p:cNvPr id="7" name="Shape 5"/>
          <p:cNvSpPr/>
          <p:nvPr/>
        </p:nvSpPr>
        <p:spPr>
          <a:xfrm>
            <a:off x="640080" y="3794760"/>
            <a:ext cx="10881360" cy="1325880"/>
          </a:xfrm>
          <a:prstGeom prst="rect">
            <a:avLst/>
          </a:prstGeom>
          <a:solidFill>
            <a:srgbClr val="FFFFFF"/>
          </a:solidFill>
          <a:ln w="12700">
            <a:solidFill>
              <a:srgbClr val="DEDFDA"/>
            </a:solidFill>
            <a:prstDash val="solid"/>
          </a:ln>
          <a:effectLst>
            <a:outerShdw sx="100000" sy="100000" kx="0" ky="0" algn="bl" rotWithShape="0" blurRad="177800" dist="25400" dir="5400000">
              <a:srgbClr val="000000">
                <a:alpha val="7000"/>
              </a:srgbClr>
            </a:outerShdw>
          </a:effectLst>
        </p:spPr>
      </p:sp>
      <p:sp>
        <p:nvSpPr>
          <p:cNvPr id="8" name="Text 6"/>
          <p:cNvSpPr txBox="1"/>
          <p:nvPr/>
        </p:nvSpPr>
        <p:spPr>
          <a:xfrm>
            <a:off x="914400" y="3977640"/>
            <a:ext cx="2834640" cy="365760"/>
          </a:xfrm>
          <a:prstGeom prst="rect">
            <a:avLst/>
          </a:prstGeom>
          <a:noFill/>
          <a:ln/>
        </p:spPr>
        <p:txBody>
          <a:bodyPr wrap="square" lIns="0" tIns="0" rIns="0" bIns="0" rtlCol="0" anchor="ctr"/>
          <a:lstStyle/>
          <a:p>
            <a:pPr indent="0" marL="0">
              <a:buNone/>
            </a:pPr>
            <a:r>
              <a:rPr lang="en-US" sz="1600" b="1" dirty="0">
                <a:solidFill>
                  <a:srgbClr val="26695E"/>
                </a:solidFill>
                <a:latin typeface="Calibri" pitchFamily="34" charset="0"/>
                <a:ea typeface="Calibri" pitchFamily="34" charset="-122"/>
                <a:cs typeface="Calibri" pitchFamily="34" charset="-120"/>
              </a:rPr>
              <a:t>Divergence from self</a:t>
            </a:r>
            <a:endParaRPr lang="en-US" sz="1600" dirty="0"/>
          </a:p>
        </p:txBody>
      </p:sp>
      <p:sp>
        <p:nvSpPr>
          <p:cNvPr id="9" name="Text 7"/>
          <p:cNvSpPr txBox="1"/>
          <p:nvPr/>
        </p:nvSpPr>
        <p:spPr>
          <a:xfrm>
            <a:off x="3840480" y="3959352"/>
            <a:ext cx="7406640" cy="1051560"/>
          </a:xfrm>
          <a:prstGeom prst="rect">
            <a:avLst/>
          </a:prstGeom>
          <a:noFill/>
          <a:ln/>
        </p:spPr>
        <p:txBody>
          <a:bodyPr wrap="square" lIns="0" tIns="0" rIns="0" bIns="0" rtlCol="0" anchor="ctr"/>
          <a:lstStyle/>
          <a:p>
            <a:pPr indent="0" marL="0">
              <a:lnSpc>
                <a:spcPct val="130000"/>
              </a:lnSpc>
              <a:buNone/>
            </a:pPr>
            <a:r>
              <a:rPr lang="en-US" sz="1300" dirty="0">
                <a:solidFill>
                  <a:srgbClr val="12161B"/>
                </a:solidFill>
                <a:latin typeface="Calibri" pitchFamily="34" charset="0"/>
                <a:ea typeface="Calibri" pitchFamily="34" charset="-122"/>
                <a:cs typeface="Calibri" pitchFamily="34" charset="-120"/>
              </a:rPr>
              <a:t>A longitudinal model per speaker. Hedging counts for nothing if hedging is how they always talk. The signal is the CFO who quotes basis points every quarter and suddenly speaks only in adjectives.</a:t>
            </a:r>
            <a:endParaRPr lang="en-US" sz="1300" dirty="0"/>
          </a:p>
        </p:txBody>
      </p:sp>
      <p:sp>
        <p:nvSpPr>
          <p:cNvPr id="10" name="Text 8"/>
          <p:cNvSpPr txBox="1"/>
          <p:nvPr/>
        </p:nvSpPr>
        <p:spPr>
          <a:xfrm>
            <a:off x="640080" y="5623560"/>
            <a:ext cx="10881360" cy="457200"/>
          </a:xfrm>
          <a:prstGeom prst="rect">
            <a:avLst/>
          </a:prstGeom>
          <a:noFill/>
          <a:ln/>
        </p:spPr>
        <p:txBody>
          <a:bodyPr wrap="square" lIns="0" tIns="0" rIns="0" bIns="0" rtlCol="0" anchor="ctr"/>
          <a:lstStyle/>
          <a:p>
            <a:pPr indent="0" marL="0">
              <a:buNone/>
            </a:pPr>
            <a:r>
              <a:rPr lang="en-US" sz="1300" i="1" dirty="0">
                <a:solidFill>
                  <a:srgbClr val="6C727B"/>
                </a:solidFill>
                <a:latin typeface="Calibri" pitchFamily="34" charset="0"/>
                <a:ea typeface="Calibri" pitchFamily="34" charset="-122"/>
                <a:cs typeface="Calibri" pitchFamily="34" charset="-120"/>
              </a:rPr>
              <a:t>Identical text scored against 11 real central bankers spans several standard deviations. An absolute scorer returns one number for all of them.</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6F3"/>
        </a:solidFill>
      </p:bgPr>
    </p:bg>
    <p:spTree>
      <p:nvGrpSpPr>
        <p:cNvPr id="1" name=""/>
        <p:cNvGrpSpPr/>
        <p:nvPr/>
      </p:nvGrpSpPr>
      <p:grpSpPr>
        <a:xfrm>
          <a:off x="0" y="0"/>
          <a:ext cx="0" cy="0"/>
          <a:chOff x="0" y="0"/>
          <a:chExt cx="0" cy="0"/>
        </a:xfrm>
      </p:grpSpPr>
      <p:sp>
        <p:nvSpPr>
          <p:cNvPr id="2" name="Text 0"/>
          <p:cNvSpPr txBox="1"/>
          <p:nvPr/>
        </p:nvSpPr>
        <p:spPr>
          <a:xfrm>
            <a:off x="640080" y="566928"/>
            <a:ext cx="10881360" cy="822960"/>
          </a:xfrm>
          <a:prstGeom prst="rect">
            <a:avLst/>
          </a:prstGeom>
          <a:noFill/>
          <a:ln/>
        </p:spPr>
        <p:txBody>
          <a:bodyPr wrap="square" lIns="0" tIns="0" rIns="0" bIns="0" rtlCol="0" anchor="ctr"/>
          <a:lstStyle/>
          <a:p>
            <a:pPr indent="0" marL="0">
              <a:buNone/>
            </a:pPr>
            <a:r>
              <a:rPr lang="en-US" sz="3800" b="1" dirty="0">
                <a:solidFill>
                  <a:srgbClr val="12161B"/>
                </a:solidFill>
                <a:latin typeface="Cambria" pitchFamily="34" charset="0"/>
                <a:ea typeface="Cambria" pitchFamily="34" charset="-122"/>
                <a:cs typeface="Cambria" pitchFamily="34" charset="-120"/>
              </a:rPr>
              <a:t>We do not decide who is constrained</a:t>
            </a:r>
            <a:endParaRPr lang="en-US" sz="3800" dirty="0"/>
          </a:p>
        </p:txBody>
      </p:sp>
      <p:sp>
        <p:nvSpPr>
          <p:cNvPr id="3" name="Text 1"/>
          <p:cNvSpPr txBox="1"/>
          <p:nvPr/>
        </p:nvSpPr>
        <p:spPr>
          <a:xfrm>
            <a:off x="640080" y="1389888"/>
            <a:ext cx="10881360" cy="457200"/>
          </a:xfrm>
          <a:prstGeom prst="rect">
            <a:avLst/>
          </a:prstGeom>
          <a:noFill/>
          <a:ln/>
        </p:spPr>
        <p:txBody>
          <a:bodyPr wrap="square" lIns="0" tIns="0" rIns="0" bIns="0" rtlCol="0" anchor="ctr"/>
          <a:lstStyle/>
          <a:p>
            <a:pPr indent="0" marL="0">
              <a:buNone/>
            </a:pPr>
            <a:r>
              <a:rPr lang="en-US" sz="1500" dirty="0">
                <a:solidFill>
                  <a:srgbClr val="6C727B"/>
                </a:solidFill>
                <a:latin typeface="Calibri" pitchFamily="34" charset="0"/>
                <a:ea typeface="Calibri" pitchFamily="34" charset="-122"/>
                <a:cs typeface="Calibri" pitchFamily="34" charset="-120"/>
              </a:rPr>
              <a:t>The Federal Reserve publishes the treatment assignment in advance</a:t>
            </a:r>
            <a:endParaRPr lang="en-US" sz="1500" dirty="0"/>
          </a:p>
        </p:txBody>
      </p:sp>
      <p:sp>
        <p:nvSpPr>
          <p:cNvPr id="4" name="Text 2"/>
          <p:cNvSpPr txBox="1"/>
          <p:nvPr/>
        </p:nvSpPr>
        <p:spPr>
          <a:xfrm>
            <a:off x="640080" y="2103120"/>
            <a:ext cx="6400800" cy="1005840"/>
          </a:xfrm>
          <a:prstGeom prst="rect">
            <a:avLst/>
          </a:prstGeom>
          <a:noFill/>
          <a:ln/>
        </p:spPr>
        <p:txBody>
          <a:bodyPr wrap="square" lIns="0" tIns="0" rIns="0" bIns="0" rtlCol="0" anchor="ctr"/>
          <a:lstStyle/>
          <a:p>
            <a:pPr indent="0" marL="0">
              <a:lnSpc>
                <a:spcPct val="130000"/>
              </a:lnSpc>
              <a:buNone/>
            </a:pPr>
            <a:r>
              <a:rPr lang="en-US" sz="1400" b="1" dirty="0">
                <a:solidFill>
                  <a:srgbClr val="12161B"/>
                </a:solidFill>
                <a:latin typeface="Calibri" pitchFamily="34" charset="0"/>
                <a:ea typeface="Calibri" pitchFamily="34" charset="-122"/>
                <a:cs typeface="Calibri" pitchFamily="34" charset="-120"/>
              </a:rPr>
              <a:t>The FOMC blackout </a:t>
            </a:r>
            <a:pPr indent="0" marL="0">
              <a:lnSpc>
                <a:spcPct val="130000"/>
              </a:lnSpc>
              <a:buNone/>
            </a:pPr>
            <a:r>
              <a:rPr lang="en-US" sz="1400" dirty="0">
                <a:solidFill>
                  <a:srgbClr val="12161B"/>
                </a:solidFill>
                <a:latin typeface="Calibri" pitchFamily="34" charset="0"/>
                <a:ea typeface="Calibri" pitchFamily="34" charset="-122"/>
                <a:cs typeface="Calibri" pitchFamily="34" charset="-120"/>
              </a:rPr>
              <a:t>bars policy comment from the second Saturday before a meeting through the day after. It is published in advance, applies institutionally, and has nothing to do with what any individual official knows.</a:t>
            </a:r>
            <a:endParaRPr lang="en-US" sz="1400" dirty="0"/>
          </a:p>
        </p:txBody>
      </p:sp>
      <p:sp>
        <p:nvSpPr>
          <p:cNvPr id="5" name="Text 3"/>
          <p:cNvSpPr txBox="1"/>
          <p:nvPr/>
        </p:nvSpPr>
        <p:spPr>
          <a:xfrm>
            <a:off x="640080" y="3246120"/>
            <a:ext cx="6400800" cy="1280160"/>
          </a:xfrm>
          <a:prstGeom prst="rect">
            <a:avLst/>
          </a:prstGeom>
          <a:noFill/>
          <a:ln/>
        </p:spPr>
        <p:txBody>
          <a:bodyPr wrap="square" lIns="0" tIns="0" rIns="0" bIns="0" rtlCol="0" anchor="ctr"/>
          <a:lstStyle/>
          <a:p>
            <a:pPr indent="0" marL="0">
              <a:lnSpc>
                <a:spcPct val="130000"/>
              </a:lnSpc>
              <a:buNone/>
            </a:pPr>
            <a:r>
              <a:rPr lang="en-US" sz="1300" dirty="0">
                <a:solidFill>
                  <a:srgbClr val="6C727B"/>
                </a:solidFill>
                <a:latin typeface="Calibri" pitchFamily="34" charset="0"/>
                <a:ea typeface="Calibri" pitchFamily="34" charset="-122"/>
                <a:cs typeface="Calibri" pitchFamily="34" charset="-120"/>
              </a:rPr>
              <a:t>It also holds format constant. In a corporate corpus, constrained windows ARE media interviews and baselines ARE earnings calls — format is collinear with treatment, and regressing it out drives the signal to chance. Fed officials give the same kind of speech inside and outside blackout.</a:t>
            </a:r>
            <a:endParaRPr lang="en-US" sz="1300" dirty="0"/>
          </a:p>
        </p:txBody>
      </p:sp>
      <p:sp>
        <p:nvSpPr>
          <p:cNvPr id="6" name="Shape 4"/>
          <p:cNvSpPr/>
          <p:nvPr/>
        </p:nvSpPr>
        <p:spPr>
          <a:xfrm>
            <a:off x="7589520" y="2103120"/>
            <a:ext cx="3931920" cy="3291840"/>
          </a:xfrm>
          <a:prstGeom prst="rect">
            <a:avLst/>
          </a:prstGeom>
          <a:solidFill>
            <a:srgbClr val="FFFFFF"/>
          </a:solidFill>
          <a:ln w="12700">
            <a:solidFill>
              <a:srgbClr val="DEDFDA"/>
            </a:solidFill>
            <a:prstDash val="solid"/>
          </a:ln>
          <a:effectLst>
            <a:outerShdw sx="100000" sy="100000" kx="0" ky="0" algn="bl" rotWithShape="0" blurRad="177800" dist="25400" dir="5400000">
              <a:srgbClr val="000000">
                <a:alpha val="7000"/>
              </a:srgbClr>
            </a:outerShdw>
          </a:effectLst>
        </p:spPr>
      </p:sp>
      <p:sp>
        <p:nvSpPr>
          <p:cNvPr id="7" name="Text 5"/>
          <p:cNvSpPr txBox="1"/>
          <p:nvPr/>
        </p:nvSpPr>
        <p:spPr>
          <a:xfrm>
            <a:off x="7909560" y="2286000"/>
            <a:ext cx="1371600" cy="566928"/>
          </a:xfrm>
          <a:prstGeom prst="rect">
            <a:avLst/>
          </a:prstGeom>
          <a:noFill/>
          <a:ln/>
        </p:spPr>
        <p:txBody>
          <a:bodyPr wrap="square" lIns="0" tIns="0" rIns="0" bIns="0" rtlCol="0" anchor="ctr"/>
          <a:lstStyle/>
          <a:p>
            <a:pPr indent="0" marL="0">
              <a:buNone/>
            </a:pPr>
            <a:r>
              <a:rPr lang="en-US" sz="3400" b="1" dirty="0">
                <a:solidFill>
                  <a:srgbClr val="12161B"/>
                </a:solidFill>
                <a:latin typeface="Calibri" pitchFamily="34" charset="0"/>
                <a:ea typeface="Calibri" pitchFamily="34" charset="-122"/>
                <a:cs typeface="Calibri" pitchFamily="34" charset="-120"/>
              </a:rPr>
              <a:t>472</a:t>
            </a:r>
            <a:endParaRPr lang="en-US" sz="3400" dirty="0"/>
          </a:p>
        </p:txBody>
      </p:sp>
      <p:sp>
        <p:nvSpPr>
          <p:cNvPr id="8" name="Text 6"/>
          <p:cNvSpPr txBox="1"/>
          <p:nvPr/>
        </p:nvSpPr>
        <p:spPr>
          <a:xfrm>
            <a:off x="9235440" y="2395728"/>
            <a:ext cx="2103120" cy="640080"/>
          </a:xfrm>
          <a:prstGeom prst="rect">
            <a:avLst/>
          </a:prstGeom>
          <a:noFill/>
          <a:ln/>
        </p:spPr>
        <p:txBody>
          <a:bodyPr wrap="square" lIns="0" tIns="0" rIns="0" bIns="0" rtlCol="0" anchor="ctr"/>
          <a:lstStyle/>
          <a:p>
            <a:pPr indent="0" marL="0">
              <a:lnSpc>
                <a:spcPct val="115000"/>
              </a:lnSpc>
              <a:buNone/>
            </a:pPr>
            <a:r>
              <a:rPr lang="en-US" sz="1150" dirty="0">
                <a:solidFill>
                  <a:srgbClr val="6C727B"/>
                </a:solidFill>
                <a:latin typeface="Calibri" pitchFamily="34" charset="0"/>
                <a:ea typeface="Calibri" pitchFamily="34" charset="-122"/>
                <a:cs typeface="Calibri" pitchFamily="34" charset="-120"/>
              </a:rPr>
              <a:t>Board speeches, Feb 2021 – Sep 2026</a:t>
            </a:r>
            <a:endParaRPr lang="en-US" sz="1150" dirty="0"/>
          </a:p>
        </p:txBody>
      </p:sp>
      <p:sp>
        <p:nvSpPr>
          <p:cNvPr id="9" name="Text 7"/>
          <p:cNvSpPr txBox="1"/>
          <p:nvPr/>
        </p:nvSpPr>
        <p:spPr>
          <a:xfrm>
            <a:off x="7909560" y="3328416"/>
            <a:ext cx="1371600" cy="566928"/>
          </a:xfrm>
          <a:prstGeom prst="rect">
            <a:avLst/>
          </a:prstGeom>
          <a:noFill/>
          <a:ln/>
        </p:spPr>
        <p:txBody>
          <a:bodyPr wrap="square" lIns="0" tIns="0" rIns="0" bIns="0" rtlCol="0" anchor="ctr"/>
          <a:lstStyle/>
          <a:p>
            <a:pPr indent="0" marL="0">
              <a:buNone/>
            </a:pPr>
            <a:r>
              <a:rPr lang="en-US" sz="3400" b="1" dirty="0">
                <a:solidFill>
                  <a:srgbClr val="12161B"/>
                </a:solidFill>
                <a:latin typeface="Calibri" pitchFamily="34" charset="0"/>
                <a:ea typeface="Calibri" pitchFamily="34" charset="-122"/>
                <a:cs typeface="Calibri" pitchFamily="34" charset="-120"/>
              </a:rPr>
              <a:t>11</a:t>
            </a:r>
            <a:endParaRPr lang="en-US" sz="3400" dirty="0"/>
          </a:p>
        </p:txBody>
      </p:sp>
      <p:sp>
        <p:nvSpPr>
          <p:cNvPr id="10" name="Text 8"/>
          <p:cNvSpPr txBox="1"/>
          <p:nvPr/>
        </p:nvSpPr>
        <p:spPr>
          <a:xfrm>
            <a:off x="9235440" y="3438144"/>
            <a:ext cx="2103120" cy="640080"/>
          </a:xfrm>
          <a:prstGeom prst="rect">
            <a:avLst/>
          </a:prstGeom>
          <a:noFill/>
          <a:ln/>
        </p:spPr>
        <p:txBody>
          <a:bodyPr wrap="square" lIns="0" tIns="0" rIns="0" bIns="0" rtlCol="0" anchor="ctr"/>
          <a:lstStyle/>
          <a:p>
            <a:pPr indent="0" marL="0">
              <a:lnSpc>
                <a:spcPct val="115000"/>
              </a:lnSpc>
              <a:buNone/>
            </a:pPr>
            <a:r>
              <a:rPr lang="en-US" sz="1150" dirty="0">
                <a:solidFill>
                  <a:srgbClr val="6C727B"/>
                </a:solidFill>
                <a:latin typeface="Calibri" pitchFamily="34" charset="0"/>
                <a:ea typeface="Calibri" pitchFamily="34" charset="-122"/>
                <a:cs typeface="Calibri" pitchFamily="34" charset="-120"/>
              </a:rPr>
              <a:t>speakers with fitted baselines</a:t>
            </a:r>
            <a:endParaRPr lang="en-US" sz="1150" dirty="0"/>
          </a:p>
        </p:txBody>
      </p:sp>
      <p:sp>
        <p:nvSpPr>
          <p:cNvPr id="11" name="Text 9"/>
          <p:cNvSpPr txBox="1"/>
          <p:nvPr/>
        </p:nvSpPr>
        <p:spPr>
          <a:xfrm>
            <a:off x="7909560" y="4370832"/>
            <a:ext cx="1371600" cy="566928"/>
          </a:xfrm>
          <a:prstGeom prst="rect">
            <a:avLst/>
          </a:prstGeom>
          <a:noFill/>
          <a:ln/>
        </p:spPr>
        <p:txBody>
          <a:bodyPr wrap="square" lIns="0" tIns="0" rIns="0" bIns="0" rtlCol="0" anchor="ctr"/>
          <a:lstStyle/>
          <a:p>
            <a:pPr indent="0" marL="0">
              <a:buNone/>
            </a:pPr>
            <a:r>
              <a:rPr lang="en-US" sz="3400" b="1" dirty="0">
                <a:solidFill>
                  <a:srgbClr val="A86D16"/>
                </a:solidFill>
                <a:latin typeface="Calibri" pitchFamily="34" charset="0"/>
                <a:ea typeface="Calibri" pitchFamily="34" charset="-122"/>
                <a:cs typeface="Calibri" pitchFamily="34" charset="-120"/>
              </a:rPr>
              <a:t>23</a:t>
            </a:r>
            <a:endParaRPr lang="en-US" sz="3400" dirty="0"/>
          </a:p>
        </p:txBody>
      </p:sp>
      <p:sp>
        <p:nvSpPr>
          <p:cNvPr id="12" name="Text 10"/>
          <p:cNvSpPr txBox="1"/>
          <p:nvPr/>
        </p:nvSpPr>
        <p:spPr>
          <a:xfrm>
            <a:off x="9235440" y="4480560"/>
            <a:ext cx="2103120" cy="640080"/>
          </a:xfrm>
          <a:prstGeom prst="rect">
            <a:avLst/>
          </a:prstGeom>
          <a:noFill/>
          <a:ln/>
        </p:spPr>
        <p:txBody>
          <a:bodyPr wrap="square" lIns="0" tIns="0" rIns="0" bIns="0" rtlCol="0" anchor="ctr"/>
          <a:lstStyle/>
          <a:p>
            <a:pPr indent="0" marL="0">
              <a:lnSpc>
                <a:spcPct val="115000"/>
              </a:lnSpc>
              <a:buNone/>
            </a:pPr>
            <a:r>
              <a:rPr lang="en-US" sz="1150" dirty="0">
                <a:solidFill>
                  <a:srgbClr val="6C727B"/>
                </a:solidFill>
                <a:latin typeface="Calibri" pitchFamily="34" charset="0"/>
                <a:ea typeface="Calibri" pitchFamily="34" charset="-122"/>
                <a:cs typeface="Calibri" pitchFamily="34" charset="-120"/>
              </a:rPr>
              <a:t>windows inside a blackout</a:t>
            </a:r>
            <a:endParaRPr lang="en-US" sz="1150" dirty="0"/>
          </a:p>
        </p:txBody>
      </p:sp>
      <p:sp>
        <p:nvSpPr>
          <p:cNvPr id="13" name="Text 11"/>
          <p:cNvSpPr txBox="1"/>
          <p:nvPr/>
        </p:nvSpPr>
        <p:spPr>
          <a:xfrm>
            <a:off x="640080" y="5760720"/>
            <a:ext cx="10881360" cy="365760"/>
          </a:xfrm>
          <a:prstGeom prst="rect">
            <a:avLst/>
          </a:prstGeom>
          <a:noFill/>
          <a:ln/>
        </p:spPr>
        <p:txBody>
          <a:bodyPr wrap="square" lIns="0" tIns="0" rIns="0" bIns="0" rtlCol="0" anchor="ctr"/>
          <a:lstStyle/>
          <a:p>
            <a:pPr indent="0" marL="0">
              <a:buNone/>
            </a:pPr>
            <a:r>
              <a:rPr lang="en-US" sz="1100" dirty="0">
                <a:solidFill>
                  <a:srgbClr val="6C727B"/>
                </a:solidFill>
                <a:latin typeface="Courier New" pitchFamily="34" charset="0"/>
                <a:ea typeface="Courier New" pitchFamily="34" charset="-122"/>
                <a:cs typeface="Courier New" pitchFamily="34" charset="-120"/>
              </a:rPr>
              <a:t>1.18M words · public domain · US Government works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6F3"/>
        </a:solidFill>
      </p:bgPr>
    </p:bg>
    <p:spTree>
      <p:nvGrpSpPr>
        <p:cNvPr id="1" name=""/>
        <p:cNvGrpSpPr/>
        <p:nvPr/>
      </p:nvGrpSpPr>
      <p:grpSpPr>
        <a:xfrm>
          <a:off x="0" y="0"/>
          <a:ext cx="0" cy="0"/>
          <a:chOff x="0" y="0"/>
          <a:chExt cx="0" cy="0"/>
        </a:xfrm>
      </p:grpSpPr>
      <p:sp>
        <p:nvSpPr>
          <p:cNvPr id="2" name="Text 0"/>
          <p:cNvSpPr txBox="1"/>
          <p:nvPr/>
        </p:nvSpPr>
        <p:spPr>
          <a:xfrm>
            <a:off x="640080" y="566928"/>
            <a:ext cx="10881360" cy="822960"/>
          </a:xfrm>
          <a:prstGeom prst="rect">
            <a:avLst/>
          </a:prstGeom>
          <a:noFill/>
          <a:ln/>
        </p:spPr>
        <p:txBody>
          <a:bodyPr wrap="square" lIns="0" tIns="0" rIns="0" bIns="0" rtlCol="0" anchor="ctr"/>
          <a:lstStyle/>
          <a:p>
            <a:pPr indent="0" marL="0">
              <a:buNone/>
            </a:pPr>
            <a:r>
              <a:rPr lang="en-US" sz="3800" b="1" dirty="0">
                <a:solidFill>
                  <a:srgbClr val="12161B"/>
                </a:solidFill>
                <a:latin typeface="Cambria" pitchFamily="34" charset="0"/>
                <a:ea typeface="Cambria" pitchFamily="34" charset="-122"/>
                <a:cs typeface="Cambria" pitchFamily="34" charset="-120"/>
              </a:rPr>
              <a:t>The constraint is real</a:t>
            </a:r>
            <a:endParaRPr lang="en-US" sz="3800" dirty="0"/>
          </a:p>
        </p:txBody>
      </p:sp>
      <p:sp>
        <p:nvSpPr>
          <p:cNvPr id="3" name="Text 1"/>
          <p:cNvSpPr txBox="1"/>
          <p:nvPr/>
        </p:nvSpPr>
        <p:spPr>
          <a:xfrm>
            <a:off x="640080" y="1389888"/>
            <a:ext cx="10881360" cy="457200"/>
          </a:xfrm>
          <a:prstGeom prst="rect">
            <a:avLst/>
          </a:prstGeom>
          <a:noFill/>
          <a:ln/>
        </p:spPr>
        <p:txBody>
          <a:bodyPr wrap="square" lIns="0" tIns="0" rIns="0" bIns="0" rtlCol="0" anchor="ctr"/>
          <a:lstStyle/>
          <a:p>
            <a:pPr indent="0" marL="0">
              <a:buNone/>
            </a:pPr>
            <a:r>
              <a:rPr lang="en-US" sz="1500" dirty="0">
                <a:solidFill>
                  <a:srgbClr val="6C727B"/>
                </a:solidFill>
                <a:latin typeface="Calibri" pitchFamily="34" charset="0"/>
                <a:ea typeface="Calibri" pitchFamily="34" charset="-122"/>
                <a:cs typeface="Calibri" pitchFamily="34" charset="-120"/>
              </a:rPr>
              <a:t>Established from a published calendar and a count — before a single word is scored</a:t>
            </a:r>
            <a:endParaRPr lang="en-US" sz="1500" dirty="0"/>
          </a:p>
        </p:txBody>
      </p:sp>
      <p:graphicFrame>
        <p:nvGraphicFramePr>
          <p:cNvPr id="4" name="Chart 0" descr=""/>
          <p:cNvGraphicFramePr/>
          <p:nvPr/>
        </p:nvGraphicFramePr>
        <p:xfrm>
          <a:off x="640080" y="2148840"/>
          <a:ext cx="6583680" cy="30175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772400" y="2286000"/>
            <a:ext cx="3749040" cy="960120"/>
          </a:xfrm>
          <a:prstGeom prst="rect">
            <a:avLst/>
          </a:prstGeom>
          <a:noFill/>
          <a:ln/>
        </p:spPr>
        <p:txBody>
          <a:bodyPr wrap="square" lIns="0" tIns="0" rIns="0" bIns="0" rtlCol="0" anchor="ctr"/>
          <a:lstStyle/>
          <a:p>
            <a:pPr indent="0" marL="0">
              <a:buNone/>
            </a:pPr>
            <a:r>
              <a:rPr lang="en-US" sz="5400" b="1" dirty="0">
                <a:solidFill>
                  <a:srgbClr val="A86D16"/>
                </a:solidFill>
                <a:latin typeface="Calibri" pitchFamily="34" charset="0"/>
                <a:ea typeface="Calibri" pitchFamily="34" charset="-122"/>
                <a:cs typeface="Calibri" pitchFamily="34" charset="-120"/>
              </a:rPr>
              <a:t>5.8×</a:t>
            </a:r>
            <a:endParaRPr lang="en-US" sz="5400" dirty="0"/>
          </a:p>
        </p:txBody>
      </p:sp>
      <p:sp>
        <p:nvSpPr>
          <p:cNvPr id="6" name="Text 3"/>
          <p:cNvSpPr txBox="1"/>
          <p:nvPr/>
        </p:nvSpPr>
        <p:spPr>
          <a:xfrm>
            <a:off x="7772400" y="3218688"/>
            <a:ext cx="3749040" cy="777240"/>
          </a:xfrm>
          <a:prstGeom prst="rect">
            <a:avLst/>
          </a:prstGeom>
          <a:noFill/>
          <a:ln/>
        </p:spPr>
        <p:txBody>
          <a:bodyPr wrap="square" lIns="0" tIns="0" rIns="0" bIns="0" rtlCol="0" anchor="ctr"/>
          <a:lstStyle/>
          <a:p>
            <a:pPr indent="0" marL="0">
              <a:buNone/>
            </a:pPr>
            <a:r>
              <a:rPr lang="en-US" sz="1250" dirty="0">
                <a:solidFill>
                  <a:srgbClr val="6C727B"/>
                </a:solidFill>
                <a:latin typeface="Calibri" pitchFamily="34" charset="0"/>
                <a:ea typeface="Calibri" pitchFamily="34" charset="-122"/>
                <a:cs typeface="Calibri" pitchFamily="34" charset="-120"/>
              </a:rPr>
              <a:t>less public speaking while the constraint is in force</a:t>
            </a:r>
            <a:endParaRPr lang="en-US" sz="1250" dirty="0"/>
          </a:p>
        </p:txBody>
      </p:sp>
      <p:sp>
        <p:nvSpPr>
          <p:cNvPr id="7" name="Text 4"/>
          <p:cNvSpPr txBox="1"/>
          <p:nvPr/>
        </p:nvSpPr>
        <p:spPr>
          <a:xfrm>
            <a:off x="7772400" y="3977640"/>
            <a:ext cx="3749040" cy="1371600"/>
          </a:xfrm>
          <a:prstGeom prst="rect">
            <a:avLst/>
          </a:prstGeom>
          <a:noFill/>
          <a:ln/>
        </p:spPr>
        <p:txBody>
          <a:bodyPr wrap="square" lIns="0" tIns="0" rIns="0" bIns="0" rtlCol="0" anchor="ctr"/>
          <a:lstStyle/>
          <a:p>
            <a:pPr indent="0" marL="0">
              <a:lnSpc>
                <a:spcPct val="130000"/>
              </a:lnSpc>
              <a:buNone/>
            </a:pPr>
            <a:r>
              <a:rPr lang="en-US" sz="1200" dirty="0">
                <a:solidFill>
                  <a:srgbClr val="6C727B"/>
                </a:solidFill>
                <a:latin typeface="Calibri" pitchFamily="34" charset="0"/>
                <a:ea typeface="Calibri" pitchFamily="34" charset="-122"/>
                <a:cs typeface="Calibri" pitchFamily="34" charset="-120"/>
              </a:rPr>
              <a:t>A constraint that stops people speaking necessarily produces few constrained observations. That is a structural limit of this corpus — the answer is more years, not a cleverer estimator.</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161B"/>
        </a:solidFill>
      </p:bgPr>
    </p:bg>
    <p:spTree>
      <p:nvGrpSpPr>
        <p:cNvPr id="1" name=""/>
        <p:cNvGrpSpPr/>
        <p:nvPr/>
      </p:nvGrpSpPr>
      <p:grpSpPr>
        <a:xfrm>
          <a:off x="0" y="0"/>
          <a:ext cx="0" cy="0"/>
          <a:chOff x="0" y="0"/>
          <a:chExt cx="0" cy="0"/>
        </a:xfrm>
      </p:grpSpPr>
      <p:sp>
        <p:nvSpPr>
          <p:cNvPr id="2" name="Text 0"/>
          <p:cNvSpPr txBox="1"/>
          <p:nvPr/>
        </p:nvSpPr>
        <p:spPr>
          <a:xfrm>
            <a:off x="640080" y="566928"/>
            <a:ext cx="1088136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Our main prediction failed</a:t>
            </a:r>
            <a:endParaRPr lang="en-US" sz="3800" dirty="0"/>
          </a:p>
        </p:txBody>
      </p:sp>
      <p:sp>
        <p:nvSpPr>
          <p:cNvPr id="3" name="Text 1"/>
          <p:cNvSpPr txBox="1"/>
          <p:nvPr/>
        </p:nvSpPr>
        <p:spPr>
          <a:xfrm>
            <a:off x="640080" y="1389888"/>
            <a:ext cx="10881360" cy="457200"/>
          </a:xfrm>
          <a:prstGeom prst="rect">
            <a:avLst/>
          </a:prstGeom>
          <a:noFill/>
          <a:ln/>
        </p:spPr>
        <p:txBody>
          <a:bodyPr wrap="square" lIns="0" tIns="0" rIns="0" bIns="0" rtlCol="0" anchor="ctr"/>
          <a:lstStyle/>
          <a:p>
            <a:pPr indent="0" marL="0">
              <a:buNone/>
            </a:pPr>
            <a:r>
              <a:rPr lang="en-US" sz="1500" dirty="0">
                <a:solidFill>
                  <a:srgbClr val="B6BCC4"/>
                </a:solidFill>
                <a:latin typeface="Calibri" pitchFamily="34" charset="0"/>
                <a:ea typeface="Calibri" pitchFamily="34" charset="-122"/>
                <a:cs typeface="Calibri" pitchFamily="34" charset="-120"/>
              </a:rPr>
              <a:t>Reported because a team that hides its own negative result cannot be trusted with a positive one</a:t>
            </a:r>
            <a:endParaRPr lang="en-US" sz="1500" dirty="0"/>
          </a:p>
        </p:txBody>
      </p:sp>
      <p:sp>
        <p:nvSpPr>
          <p:cNvPr id="4" name="Text 2"/>
          <p:cNvSpPr txBox="1"/>
          <p:nvPr/>
        </p:nvSpPr>
        <p:spPr>
          <a:xfrm>
            <a:off x="640080" y="2103120"/>
            <a:ext cx="6309360" cy="914400"/>
          </a:xfrm>
          <a:prstGeom prst="rect">
            <a:avLst/>
          </a:prstGeom>
          <a:noFill/>
          <a:ln/>
        </p:spPr>
        <p:txBody>
          <a:bodyPr wrap="square" lIns="0" tIns="0" rIns="0" bIns="0" rtlCol="0" anchor="ctr"/>
          <a:lstStyle/>
          <a:p>
            <a:pPr indent="0" marL="0">
              <a:lnSpc>
                <a:spcPct val="130000"/>
              </a:lnSpc>
              <a:buNone/>
            </a:pPr>
            <a:r>
              <a:rPr lang="en-US" sz="1350" dirty="0">
                <a:solidFill>
                  <a:srgbClr val="B6BCC4"/>
                </a:solidFill>
                <a:latin typeface="Calibri" pitchFamily="34" charset="0"/>
                <a:ea typeface="Calibri" pitchFamily="34" charset="-122"/>
                <a:cs typeface="Calibri" pitchFamily="34" charset="-120"/>
              </a:rPr>
              <a:t>The model predicts divergence should RISE as the meeting approaches and the constraint binds harder. Tested within-speaker, which is the correct level — between-speaker variation swamps the gradient.</a:t>
            </a:r>
            <a:endParaRPr lang="en-US" sz="1350" dirty="0"/>
          </a:p>
        </p:txBody>
      </p:sp>
      <p:sp>
        <p:nvSpPr>
          <p:cNvPr id="5" name="Text 3"/>
          <p:cNvSpPr txBox="1"/>
          <p:nvPr/>
        </p:nvSpPr>
        <p:spPr>
          <a:xfrm>
            <a:off x="640080" y="3246120"/>
            <a:ext cx="2011680" cy="685800"/>
          </a:xfrm>
          <a:prstGeom prst="rect">
            <a:avLst/>
          </a:prstGeom>
          <a:noFill/>
          <a:ln/>
        </p:spPr>
        <p:txBody>
          <a:bodyPr wrap="square" lIns="0" tIns="0" rIns="0" bIns="0" rtlCol="0" anchor="ctr"/>
          <a:lstStyle/>
          <a:p>
            <a:pPr indent="0" marL="0">
              <a:buNone/>
            </a:pPr>
            <a:r>
              <a:rPr lang="en-US" sz="3200" b="1" dirty="0">
                <a:solidFill>
                  <a:srgbClr val="A2412C"/>
                </a:solidFill>
                <a:latin typeface="Calibri" pitchFamily="34" charset="0"/>
                <a:ea typeface="Calibri" pitchFamily="34" charset="-122"/>
                <a:cs typeface="Calibri" pitchFamily="34" charset="-120"/>
              </a:rPr>
              <a:t>−0.80</a:t>
            </a:r>
            <a:endParaRPr lang="en-US" sz="3200" dirty="0"/>
          </a:p>
        </p:txBody>
      </p:sp>
      <p:sp>
        <p:nvSpPr>
          <p:cNvPr id="6" name="Text 4"/>
          <p:cNvSpPr txBox="1"/>
          <p:nvPr/>
        </p:nvSpPr>
        <p:spPr>
          <a:xfrm>
            <a:off x="640080" y="3931920"/>
            <a:ext cx="2103120" cy="640080"/>
          </a:xfrm>
          <a:prstGeom prst="rect">
            <a:avLst/>
          </a:prstGeom>
          <a:noFill/>
          <a:ln/>
        </p:spPr>
        <p:txBody>
          <a:bodyPr wrap="square" lIns="0" tIns="0" rIns="0" bIns="0" rtlCol="0" anchor="ctr"/>
          <a:lstStyle/>
          <a:p>
            <a:pPr indent="0" marL="0">
              <a:lnSpc>
                <a:spcPct val="115000"/>
              </a:lnSpc>
              <a:buNone/>
            </a:pPr>
            <a:r>
              <a:rPr lang="en-US" sz="1100" dirty="0">
                <a:solidFill>
                  <a:srgbClr val="6C727B"/>
                </a:solidFill>
                <a:latin typeface="Calibri" pitchFamily="34" charset="0"/>
                <a:ea typeface="Calibri" pitchFamily="34" charset="-122"/>
                <a:cs typeface="Calibri" pitchFamily="34" charset="-120"/>
              </a:rPr>
              <a:t>median within-speaker ρ</a:t>
            </a:r>
            <a:endParaRPr lang="en-US" sz="1100" dirty="0"/>
          </a:p>
        </p:txBody>
      </p:sp>
      <p:sp>
        <p:nvSpPr>
          <p:cNvPr id="7" name="Text 5"/>
          <p:cNvSpPr txBox="1"/>
          <p:nvPr/>
        </p:nvSpPr>
        <p:spPr>
          <a:xfrm>
            <a:off x="2788920" y="3246120"/>
            <a:ext cx="2011680" cy="685800"/>
          </a:xfrm>
          <a:prstGeom prst="rect">
            <a:avLst/>
          </a:prstGeom>
          <a:noFill/>
          <a:ln/>
        </p:spPr>
        <p:txBody>
          <a:bodyPr wrap="square" lIns="0" tIns="0" rIns="0" bIns="0" rtlCol="0" anchor="ctr"/>
          <a:lstStyle/>
          <a:p>
            <a:pPr indent="0" marL="0">
              <a:buNone/>
            </a:pPr>
            <a:r>
              <a:rPr lang="en-US" sz="3200" b="1" dirty="0">
                <a:solidFill>
                  <a:srgbClr val="A2412C"/>
                </a:solidFill>
                <a:latin typeface="Calibri" pitchFamily="34" charset="0"/>
                <a:ea typeface="Calibri" pitchFamily="34" charset="-122"/>
                <a:cs typeface="Calibri" pitchFamily="34" charset="-120"/>
              </a:rPr>
              <a:t>0.99</a:t>
            </a:r>
            <a:endParaRPr lang="en-US" sz="3200" dirty="0"/>
          </a:p>
        </p:txBody>
      </p:sp>
      <p:sp>
        <p:nvSpPr>
          <p:cNvPr id="8" name="Text 6"/>
          <p:cNvSpPr txBox="1"/>
          <p:nvPr/>
        </p:nvSpPr>
        <p:spPr>
          <a:xfrm>
            <a:off x="2788920" y="3931920"/>
            <a:ext cx="2103120" cy="640080"/>
          </a:xfrm>
          <a:prstGeom prst="rect">
            <a:avLst/>
          </a:prstGeom>
          <a:noFill/>
          <a:ln/>
        </p:spPr>
        <p:txBody>
          <a:bodyPr wrap="square" lIns="0" tIns="0" rIns="0" bIns="0" rtlCol="0" anchor="ctr"/>
          <a:lstStyle/>
          <a:p>
            <a:pPr indent="0" marL="0">
              <a:lnSpc>
                <a:spcPct val="115000"/>
              </a:lnSpc>
              <a:buNone/>
            </a:pPr>
            <a:r>
              <a:rPr lang="en-US" sz="1100" dirty="0">
                <a:solidFill>
                  <a:srgbClr val="6C727B"/>
                </a:solidFill>
                <a:latin typeface="Calibri" pitchFamily="34" charset="0"/>
                <a:ea typeface="Calibri" pitchFamily="34" charset="-122"/>
                <a:cs typeface="Calibri" pitchFamily="34" charset="-120"/>
              </a:rPr>
              <a:t>blocked permutation p</a:t>
            </a:r>
            <a:endParaRPr lang="en-US" sz="1100" dirty="0"/>
          </a:p>
        </p:txBody>
      </p:sp>
      <p:sp>
        <p:nvSpPr>
          <p:cNvPr id="9" name="Text 7"/>
          <p:cNvSpPr txBox="1"/>
          <p:nvPr/>
        </p:nvSpPr>
        <p:spPr>
          <a:xfrm>
            <a:off x="4937760" y="3246120"/>
            <a:ext cx="2011680" cy="685800"/>
          </a:xfrm>
          <a:prstGeom prst="rect">
            <a:avLst/>
          </a:prstGeom>
          <a:noFill/>
          <a:ln/>
        </p:spPr>
        <p:txBody>
          <a:bodyPr wrap="square" lIns="0" tIns="0" rIns="0" bIns="0" rtlCol="0" anchor="ctr"/>
          <a:lstStyle/>
          <a:p>
            <a:pPr indent="0" marL="0">
              <a:buNone/>
            </a:pPr>
            <a:r>
              <a:rPr lang="en-US" sz="3200" b="1" dirty="0">
                <a:solidFill>
                  <a:srgbClr val="A2412C"/>
                </a:solidFill>
                <a:latin typeface="Calibri" pitchFamily="34" charset="0"/>
                <a:ea typeface="Calibri" pitchFamily="34" charset="-122"/>
                <a:cs typeface="Calibri" pitchFamily="34" charset="-120"/>
              </a:rPr>
              <a:t>20%</a:t>
            </a:r>
            <a:endParaRPr lang="en-US" sz="3200" dirty="0"/>
          </a:p>
        </p:txBody>
      </p:sp>
      <p:sp>
        <p:nvSpPr>
          <p:cNvPr id="10" name="Text 8"/>
          <p:cNvSpPr txBox="1"/>
          <p:nvPr/>
        </p:nvSpPr>
        <p:spPr>
          <a:xfrm>
            <a:off x="4937760" y="3931920"/>
            <a:ext cx="2103120" cy="640080"/>
          </a:xfrm>
          <a:prstGeom prst="rect">
            <a:avLst/>
          </a:prstGeom>
          <a:noFill/>
          <a:ln/>
        </p:spPr>
        <p:txBody>
          <a:bodyPr wrap="square" lIns="0" tIns="0" rIns="0" bIns="0" rtlCol="0" anchor="ctr"/>
          <a:lstStyle/>
          <a:p>
            <a:pPr indent="0" marL="0">
              <a:lnSpc>
                <a:spcPct val="115000"/>
              </a:lnSpc>
              <a:buNone/>
            </a:pPr>
            <a:r>
              <a:rPr lang="en-US" sz="1100" dirty="0">
                <a:solidFill>
                  <a:srgbClr val="6C727B"/>
                </a:solidFill>
                <a:latin typeface="Calibri" pitchFamily="34" charset="0"/>
                <a:ea typeface="Calibri" pitchFamily="34" charset="-122"/>
                <a:cs typeface="Calibri" pitchFamily="34" charset="-120"/>
              </a:rPr>
              <a:t>of speakers point the</a:t>
            </a:r>
            <a:endParaRPr lang="en-US" sz="1100" dirty="0"/>
          </a:p>
          <a:p>
            <a:pPr indent="0" marL="0">
              <a:lnSpc>
                <a:spcPct val="115000"/>
              </a:lnSpc>
              <a:buNone/>
            </a:pPr>
            <a:r>
              <a:rPr lang="en-US" sz="1100" dirty="0">
                <a:solidFill>
                  <a:srgbClr val="6C727B"/>
                </a:solidFill>
                <a:latin typeface="Calibri" pitchFamily="34" charset="0"/>
                <a:ea typeface="Calibri" pitchFamily="34" charset="-122"/>
                <a:cs typeface="Calibri" pitchFamily="34" charset="-120"/>
              </a:rPr>
              <a:t>predicted way</a:t>
            </a:r>
            <a:endParaRPr lang="en-US" sz="1100" dirty="0"/>
          </a:p>
        </p:txBody>
      </p:sp>
      <p:sp>
        <p:nvSpPr>
          <p:cNvPr id="11" name="Text 9"/>
          <p:cNvSpPr txBox="1"/>
          <p:nvPr/>
        </p:nvSpPr>
        <p:spPr>
          <a:xfrm>
            <a:off x="640080" y="4800600"/>
            <a:ext cx="6309360" cy="548640"/>
          </a:xfrm>
          <a:prstGeom prst="rect">
            <a:avLst/>
          </a:prstGeom>
          <a:noFill/>
          <a:ln/>
        </p:spPr>
        <p:txBody>
          <a:bodyPr wrap="square" lIns="0" tIns="0" rIns="0" bIns="0"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Divergence falls as disclosure approaches — the opposite of the prediction, consistent across 4 of 5 speakers.</a:t>
            </a:r>
            <a:endParaRPr lang="en-US" sz="1300" dirty="0"/>
          </a:p>
        </p:txBody>
      </p:sp>
      <p:sp>
        <p:nvSpPr>
          <p:cNvPr id="12" name="Shape 10"/>
          <p:cNvSpPr/>
          <p:nvPr/>
        </p:nvSpPr>
        <p:spPr>
          <a:xfrm>
            <a:off x="7406640" y="2103120"/>
            <a:ext cx="4114800" cy="3566160"/>
          </a:xfrm>
          <a:prstGeom prst="rect">
            <a:avLst/>
          </a:prstGeom>
          <a:solidFill>
            <a:srgbClr val="1C2129"/>
          </a:solidFill>
          <a:ln w="12700">
            <a:solidFill>
              <a:srgbClr val="39404A"/>
            </a:solidFill>
            <a:prstDash val="solid"/>
          </a:ln>
        </p:spPr>
      </p:sp>
      <p:sp>
        <p:nvSpPr>
          <p:cNvPr id="13" name="Text 11"/>
          <p:cNvSpPr txBox="1"/>
          <p:nvPr/>
        </p:nvSpPr>
        <p:spPr>
          <a:xfrm>
            <a:off x="7726680" y="2331720"/>
            <a:ext cx="356616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Two explanations we cannot yet separate</a:t>
            </a:r>
            <a:endParaRPr lang="en-US" sz="1300" dirty="0"/>
          </a:p>
        </p:txBody>
      </p:sp>
      <p:sp>
        <p:nvSpPr>
          <p:cNvPr id="14" name="Text 12"/>
          <p:cNvSpPr txBox="1"/>
          <p:nvPr/>
        </p:nvSpPr>
        <p:spPr>
          <a:xfrm>
            <a:off x="7726680" y="2834640"/>
            <a:ext cx="3566160" cy="2286000"/>
          </a:xfrm>
          <a:prstGeom prst="rect">
            <a:avLst/>
          </a:prstGeom>
          <a:noFill/>
          <a:ln/>
        </p:spPr>
        <p:txBody>
          <a:bodyPr wrap="square" lIns="0" tIns="0" rIns="0" bIns="0" rtlCol="0" anchor="ctr"/>
          <a:lstStyle/>
          <a:p>
            <a:pPr indent="0" marL="0">
              <a:lnSpc>
                <a:spcPct val="125000"/>
              </a:lnSpc>
              <a:buNone/>
            </a:pPr>
            <a:r>
              <a:rPr lang="en-US" sz="1150" b="1" dirty="0">
                <a:solidFill>
                  <a:srgbClr val="FFFFFF"/>
                </a:solidFill>
                <a:latin typeface="Calibri" pitchFamily="34" charset="0"/>
                <a:ea typeface="Calibri" pitchFamily="34" charset="-122"/>
                <a:cs typeface="Calibri" pitchFamily="34" charset="-120"/>
              </a:rPr>
              <a:t>The hypothesis is wrong.</a:t>
            </a:r>
            <a:endParaRPr lang="en-US" sz="1150" dirty="0"/>
          </a:p>
          <a:p>
            <a:pPr indent="0" marL="0">
              <a:lnSpc>
                <a:spcPct val="125000"/>
              </a:lnSpc>
              <a:buNone/>
            </a:pPr>
            <a:r>
              <a:rPr lang="en-US" sz="1150" dirty="0">
                <a:solidFill>
                  <a:srgbClr val="B6BCC4"/>
                </a:solidFill>
                <a:latin typeface="Calibri" pitchFamily="34" charset="0"/>
                <a:ea typeface="Calibri" pitchFamily="34" charset="-122"/>
                <a:cs typeface="Calibri" pitchFamily="34" charset="-120"/>
              </a:rPr>
              <a:t>
</a:t>
            </a:r>
            <a:endParaRPr lang="en-US" sz="1150" dirty="0"/>
          </a:p>
          <a:p>
            <a:pPr indent="0" marL="0">
              <a:lnSpc>
                <a:spcPct val="125000"/>
              </a:lnSpc>
              <a:buNone/>
            </a:pPr>
            <a:r>
              <a:rPr lang="en-US" sz="1150" b="1" dirty="0">
                <a:solidFill>
                  <a:srgbClr val="FFFFFF"/>
                </a:solidFill>
                <a:latin typeface="Calibri" pitchFamily="34" charset="0"/>
                <a:ea typeface="Calibri" pitchFamily="34" charset="-122"/>
                <a:cs typeface="Calibri" pitchFamily="34" charset="-120"/>
              </a:rPr>
              <a:t>Selection. </a:t>
            </a:r>
            <a:pPr indent="0" marL="0">
              <a:lnSpc>
                <a:spcPct val="125000"/>
              </a:lnSpc>
              <a:buNone/>
            </a:pPr>
            <a:r>
              <a:rPr lang="en-US" sz="1150" dirty="0">
                <a:solidFill>
                  <a:srgbClr val="B6BCC4"/>
                </a:solidFill>
                <a:latin typeface="Calibri" pitchFamily="34" charset="0"/>
                <a:ea typeface="Calibri" pitchFamily="34" charset="-122"/>
                <a:cs typeface="Calibri" pitchFamily="34" charset="-120"/>
              </a:rPr>
              <a:t>Only 5% speak during blackout, and their remarks are the safest and most pre-cleared they have. Heavier vetting closer to a meeting would REDUCE divergence from self, because clearance regresses everyone toward a house style — which predicts exactly the sign we observe.</a:t>
            </a:r>
            <a:endParaRPr lang="en-US" sz="1150" dirty="0"/>
          </a:p>
        </p:txBody>
      </p:sp>
      <p:sp>
        <p:nvSpPr>
          <p:cNvPr id="15" name="Text 13"/>
          <p:cNvSpPr txBox="1"/>
          <p:nvPr/>
        </p:nvSpPr>
        <p:spPr>
          <a:xfrm>
            <a:off x="640080" y="5806440"/>
            <a:ext cx="10881360" cy="365760"/>
          </a:xfrm>
          <a:prstGeom prst="rect">
            <a:avLst/>
          </a:prstGeom>
          <a:noFill/>
          <a:ln/>
        </p:spPr>
        <p:txBody>
          <a:bodyPr wrap="square" lIns="0" tIns="0" rIns="0" bIns="0" rtlCol="0" anchor="ctr"/>
          <a:lstStyle/>
          <a:p>
            <a:pPr indent="0" marL="0">
              <a:buNone/>
            </a:pPr>
            <a:r>
              <a:rPr lang="en-US" sz="1100" dirty="0">
                <a:solidFill>
                  <a:srgbClr val="A86D16"/>
                </a:solidFill>
                <a:latin typeface="Courier New" pitchFamily="34" charset="0"/>
                <a:ea typeface="Courier New" pitchFamily="34" charset="-122"/>
                <a:cs typeface="Courier New" pitchFamily="34" charset="-120"/>
              </a:rPr>
              <a:t>Next test: press conferences and Q&amp;A — extempore, not staff-drafted.</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6F3"/>
        </a:solidFill>
      </p:bgPr>
    </p:bg>
    <p:spTree>
      <p:nvGrpSpPr>
        <p:cNvPr id="1" name=""/>
        <p:cNvGrpSpPr/>
        <p:nvPr/>
      </p:nvGrpSpPr>
      <p:grpSpPr>
        <a:xfrm>
          <a:off x="0" y="0"/>
          <a:ext cx="0" cy="0"/>
          <a:chOff x="0" y="0"/>
          <a:chExt cx="0" cy="0"/>
        </a:xfrm>
      </p:grpSpPr>
      <p:sp>
        <p:nvSpPr>
          <p:cNvPr id="2" name="Text 0"/>
          <p:cNvSpPr txBox="1"/>
          <p:nvPr/>
        </p:nvSpPr>
        <p:spPr>
          <a:xfrm>
            <a:off x="640080" y="566928"/>
            <a:ext cx="10881360" cy="822960"/>
          </a:xfrm>
          <a:prstGeom prst="rect">
            <a:avLst/>
          </a:prstGeom>
          <a:noFill/>
          <a:ln/>
        </p:spPr>
        <p:txBody>
          <a:bodyPr wrap="square" lIns="0" tIns="0" rIns="0" bIns="0" rtlCol="0" anchor="ctr"/>
          <a:lstStyle/>
          <a:p>
            <a:pPr indent="0" marL="0">
              <a:buNone/>
            </a:pPr>
            <a:r>
              <a:rPr lang="en-US" sz="3800" b="1" dirty="0">
                <a:solidFill>
                  <a:srgbClr val="12161B"/>
                </a:solidFill>
                <a:latin typeface="Cambria" pitchFamily="34" charset="0"/>
                <a:ea typeface="Cambria" pitchFamily="34" charset="-122"/>
                <a:cs typeface="Cambria" pitchFamily="34" charset="-120"/>
              </a:rPr>
              <a:t>Six stages, each fixing the one before</a:t>
            </a:r>
            <a:endParaRPr lang="en-US" sz="3800" dirty="0"/>
          </a:p>
        </p:txBody>
      </p:sp>
      <p:sp>
        <p:nvSpPr>
          <p:cNvPr id="3" name="Text 1"/>
          <p:cNvSpPr txBox="1"/>
          <p:nvPr/>
        </p:nvSpPr>
        <p:spPr>
          <a:xfrm>
            <a:off x="640080" y="1389888"/>
            <a:ext cx="10881360" cy="457200"/>
          </a:xfrm>
          <a:prstGeom prst="rect">
            <a:avLst/>
          </a:prstGeom>
          <a:noFill/>
          <a:ln/>
        </p:spPr>
        <p:txBody>
          <a:bodyPr wrap="square" lIns="0" tIns="0" rIns="0" bIns="0" rtlCol="0" anchor="ctr"/>
          <a:lstStyle/>
          <a:p>
            <a:pPr indent="0" marL="0">
              <a:buNone/>
            </a:pPr>
            <a:r>
              <a:rPr lang="en-US" sz="1500" dirty="0">
                <a:solidFill>
                  <a:srgbClr val="6C727B"/>
                </a:solidFill>
                <a:latin typeface="Calibri" pitchFamily="34" charset="0"/>
                <a:ea typeface="Calibri" pitchFamily="34" charset="-122"/>
                <a:cs typeface="Calibri" pitchFamily="34" charset="-120"/>
              </a:rPr>
              <a:t>Every score carries provenance — no score path exists that cannot cite itself</a:t>
            </a:r>
            <a:endParaRPr lang="en-US" sz="1500" dirty="0"/>
          </a:p>
        </p:txBody>
      </p:sp>
      <p:sp>
        <p:nvSpPr>
          <p:cNvPr id="4" name="Shape 2"/>
          <p:cNvSpPr/>
          <p:nvPr/>
        </p:nvSpPr>
        <p:spPr>
          <a:xfrm>
            <a:off x="640080" y="2157984"/>
            <a:ext cx="420624" cy="420624"/>
          </a:xfrm>
          <a:prstGeom prst="ellipse">
            <a:avLst/>
          </a:prstGeom>
          <a:solidFill>
            <a:srgbClr val="12161B"/>
          </a:solidFill>
          <a:ln/>
        </p:spPr>
      </p:sp>
      <p:sp>
        <p:nvSpPr>
          <p:cNvPr id="5" name="Text 3"/>
          <p:cNvSpPr txBox="1"/>
          <p:nvPr/>
        </p:nvSpPr>
        <p:spPr>
          <a:xfrm>
            <a:off x="640080" y="2221992"/>
            <a:ext cx="420624"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234440" y="2121408"/>
            <a:ext cx="4480560" cy="310896"/>
          </a:xfrm>
          <a:prstGeom prst="rect">
            <a:avLst/>
          </a:prstGeom>
          <a:noFill/>
          <a:ln/>
        </p:spPr>
        <p:txBody>
          <a:bodyPr wrap="square" lIns="0" tIns="0" rIns="0" bIns="0" rtlCol="0" anchor="ctr"/>
          <a:lstStyle/>
          <a:p>
            <a:pPr indent="0" marL="0">
              <a:buNone/>
            </a:pPr>
            <a:r>
              <a:rPr lang="en-US" sz="1400" b="1" dirty="0">
                <a:solidFill>
                  <a:srgbClr val="12161B"/>
                </a:solidFill>
                <a:latin typeface="Calibri" pitchFamily="34" charset="0"/>
                <a:ea typeface="Calibri" pitchFamily="34" charset="-122"/>
                <a:cs typeface="Calibri" pitchFamily="34" charset="-120"/>
              </a:rPr>
              <a:t>Features</a:t>
            </a:r>
            <a:endParaRPr lang="en-US" sz="1400" dirty="0"/>
          </a:p>
        </p:txBody>
      </p:sp>
      <p:sp>
        <p:nvSpPr>
          <p:cNvPr id="7" name="Text 5"/>
          <p:cNvSpPr txBox="1"/>
          <p:nvPr/>
        </p:nvSpPr>
        <p:spPr>
          <a:xfrm>
            <a:off x="1234440" y="2450592"/>
            <a:ext cx="4480560" cy="777240"/>
          </a:xfrm>
          <a:prstGeom prst="rect">
            <a:avLst/>
          </a:prstGeom>
          <a:noFill/>
          <a:ln/>
        </p:spPr>
        <p:txBody>
          <a:bodyPr wrap="square" lIns="0" tIns="0" rIns="0" bIns="0" rtlCol="0" anchor="ctr"/>
          <a:lstStyle/>
          <a:p>
            <a:pPr indent="0" marL="0">
              <a:lnSpc>
                <a:spcPct val="120000"/>
              </a:lnSpc>
              <a:buNone/>
            </a:pPr>
            <a:r>
              <a:rPr lang="en-US" sz="1150" dirty="0">
                <a:solidFill>
                  <a:srgbClr val="6C727B"/>
                </a:solidFill>
                <a:latin typeface="Calibri" pitchFamily="34" charset="0"/>
                <a:ea typeface="Calibri" pitchFamily="34" charset="-122"/>
                <a:cs typeface="Calibri" pitchFamily="34" charset="-120"/>
              </a:rPr>
              <a:t>Word lists are coachable, so a lexicon-free information-theoretic feature fails differently</a:t>
            </a:r>
            <a:endParaRPr lang="en-US" sz="1150" dirty="0"/>
          </a:p>
        </p:txBody>
      </p:sp>
      <p:sp>
        <p:nvSpPr>
          <p:cNvPr id="8" name="Shape 6"/>
          <p:cNvSpPr/>
          <p:nvPr/>
        </p:nvSpPr>
        <p:spPr>
          <a:xfrm>
            <a:off x="6217920" y="2157984"/>
            <a:ext cx="420624" cy="420624"/>
          </a:xfrm>
          <a:prstGeom prst="ellipse">
            <a:avLst/>
          </a:prstGeom>
          <a:solidFill>
            <a:srgbClr val="12161B"/>
          </a:solidFill>
          <a:ln/>
        </p:spPr>
      </p:sp>
      <p:sp>
        <p:nvSpPr>
          <p:cNvPr id="9" name="Text 7"/>
          <p:cNvSpPr txBox="1"/>
          <p:nvPr/>
        </p:nvSpPr>
        <p:spPr>
          <a:xfrm>
            <a:off x="6217920" y="2221992"/>
            <a:ext cx="420624"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6812280" y="2121408"/>
            <a:ext cx="4480560" cy="310896"/>
          </a:xfrm>
          <a:prstGeom prst="rect">
            <a:avLst/>
          </a:prstGeom>
          <a:noFill/>
          <a:ln/>
        </p:spPr>
        <p:txBody>
          <a:bodyPr wrap="square" lIns="0" tIns="0" rIns="0" bIns="0" rtlCol="0" anchor="ctr"/>
          <a:lstStyle/>
          <a:p>
            <a:pPr indent="0" marL="0">
              <a:buNone/>
            </a:pPr>
            <a:r>
              <a:rPr lang="en-US" sz="1400" b="1" dirty="0">
                <a:solidFill>
                  <a:srgbClr val="12161B"/>
                </a:solidFill>
                <a:latin typeface="Calibri" pitchFamily="34" charset="0"/>
                <a:ea typeface="Calibri" pitchFamily="34" charset="-122"/>
                <a:cs typeface="Calibri" pitchFamily="34" charset="-120"/>
              </a:rPr>
              <a:t>Confounds</a:t>
            </a:r>
            <a:endParaRPr lang="en-US" sz="1400" dirty="0"/>
          </a:p>
        </p:txBody>
      </p:sp>
      <p:sp>
        <p:nvSpPr>
          <p:cNvPr id="11" name="Text 9"/>
          <p:cNvSpPr txBox="1"/>
          <p:nvPr/>
        </p:nvSpPr>
        <p:spPr>
          <a:xfrm>
            <a:off x="6812280" y="2450592"/>
            <a:ext cx="4480560" cy="777240"/>
          </a:xfrm>
          <a:prstGeom prst="rect">
            <a:avLst/>
          </a:prstGeom>
          <a:noFill/>
          <a:ln/>
        </p:spPr>
        <p:txBody>
          <a:bodyPr wrap="square" lIns="0" tIns="0" rIns="0" bIns="0" rtlCol="0" anchor="ctr"/>
          <a:lstStyle/>
          <a:p>
            <a:pPr indent="0" marL="0">
              <a:lnSpc>
                <a:spcPct val="120000"/>
              </a:lnSpc>
              <a:buNone/>
            </a:pPr>
            <a:r>
              <a:rPr lang="en-US" sz="1150" dirty="0">
                <a:solidFill>
                  <a:srgbClr val="6C727B"/>
                </a:solidFill>
                <a:latin typeface="Calibri" pitchFamily="34" charset="0"/>
                <a:ea typeface="Calibri" pitchFamily="34" charset="-122"/>
                <a:cs typeface="Calibri" pitchFamily="34" charset="-120"/>
              </a:rPr>
              <a:t>Length drives lexical rates mechanically — uncontrolled, the model learns “short answers are evasive”</a:t>
            </a:r>
            <a:endParaRPr lang="en-US" sz="1150" dirty="0"/>
          </a:p>
        </p:txBody>
      </p:sp>
      <p:sp>
        <p:nvSpPr>
          <p:cNvPr id="12" name="Shape 10"/>
          <p:cNvSpPr/>
          <p:nvPr/>
        </p:nvSpPr>
        <p:spPr>
          <a:xfrm>
            <a:off x="640080" y="3456432"/>
            <a:ext cx="420624" cy="420624"/>
          </a:xfrm>
          <a:prstGeom prst="ellipse">
            <a:avLst/>
          </a:prstGeom>
          <a:solidFill>
            <a:srgbClr val="12161B"/>
          </a:solidFill>
          <a:ln/>
        </p:spPr>
      </p:sp>
      <p:sp>
        <p:nvSpPr>
          <p:cNvPr id="13" name="Text 11"/>
          <p:cNvSpPr txBox="1"/>
          <p:nvPr/>
        </p:nvSpPr>
        <p:spPr>
          <a:xfrm>
            <a:off x="640080" y="3520440"/>
            <a:ext cx="420624"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234440" y="3419856"/>
            <a:ext cx="4480560" cy="310896"/>
          </a:xfrm>
          <a:prstGeom prst="rect">
            <a:avLst/>
          </a:prstGeom>
          <a:noFill/>
          <a:ln/>
        </p:spPr>
        <p:txBody>
          <a:bodyPr wrap="square" lIns="0" tIns="0" rIns="0" bIns="0" rtlCol="0" anchor="ctr"/>
          <a:lstStyle/>
          <a:p>
            <a:pPr indent="0" marL="0">
              <a:buNone/>
            </a:pPr>
            <a:r>
              <a:rPr lang="en-US" sz="1400" b="1" dirty="0">
                <a:solidFill>
                  <a:srgbClr val="12161B"/>
                </a:solidFill>
                <a:latin typeface="Calibri" pitchFamily="34" charset="0"/>
                <a:ea typeface="Calibri" pitchFamily="34" charset="-122"/>
                <a:cs typeface="Calibri" pitchFamily="34" charset="-120"/>
              </a:rPr>
              <a:t>Shrinkage</a:t>
            </a:r>
            <a:endParaRPr lang="en-US" sz="1400" dirty="0"/>
          </a:p>
        </p:txBody>
      </p:sp>
      <p:sp>
        <p:nvSpPr>
          <p:cNvPr id="15" name="Text 13"/>
          <p:cNvSpPr txBox="1"/>
          <p:nvPr/>
        </p:nvSpPr>
        <p:spPr>
          <a:xfrm>
            <a:off x="1234440" y="3749040"/>
            <a:ext cx="4480560" cy="777240"/>
          </a:xfrm>
          <a:prstGeom prst="rect">
            <a:avLst/>
          </a:prstGeom>
          <a:noFill/>
          <a:ln/>
        </p:spPr>
        <p:txBody>
          <a:bodyPr wrap="square" lIns="0" tIns="0" rIns="0" bIns="0" rtlCol="0" anchor="ctr"/>
          <a:lstStyle/>
          <a:p>
            <a:pPr indent="0" marL="0">
              <a:lnSpc>
                <a:spcPct val="120000"/>
              </a:lnSpc>
              <a:buNone/>
            </a:pPr>
            <a:r>
              <a:rPr lang="en-US" sz="1150" dirty="0">
                <a:solidFill>
                  <a:srgbClr val="6C727B"/>
                </a:solidFill>
                <a:latin typeface="Calibri" pitchFamily="34" charset="0"/>
                <a:ea typeface="Calibri" pitchFamily="34" charset="-122"/>
                <a:cs typeface="Calibri" pitchFamily="34" charset="-120"/>
              </a:rPr>
              <a:t>Ledoit–Wolf covariance and James–Stein pooling: with few baselines the sample estimates are unusable</a:t>
            </a:r>
            <a:endParaRPr lang="en-US" sz="1150" dirty="0"/>
          </a:p>
        </p:txBody>
      </p:sp>
      <p:sp>
        <p:nvSpPr>
          <p:cNvPr id="16" name="Shape 14"/>
          <p:cNvSpPr/>
          <p:nvPr/>
        </p:nvSpPr>
        <p:spPr>
          <a:xfrm>
            <a:off x="6217920" y="3456432"/>
            <a:ext cx="420624" cy="420624"/>
          </a:xfrm>
          <a:prstGeom prst="ellipse">
            <a:avLst/>
          </a:prstGeom>
          <a:solidFill>
            <a:srgbClr val="12161B"/>
          </a:solidFill>
          <a:ln/>
        </p:spPr>
      </p:sp>
      <p:sp>
        <p:nvSpPr>
          <p:cNvPr id="17" name="Text 15"/>
          <p:cNvSpPr txBox="1"/>
          <p:nvPr/>
        </p:nvSpPr>
        <p:spPr>
          <a:xfrm>
            <a:off x="6217920" y="3520440"/>
            <a:ext cx="420624"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6"/>
          <p:cNvSpPr txBox="1"/>
          <p:nvPr/>
        </p:nvSpPr>
        <p:spPr>
          <a:xfrm>
            <a:off x="6812280" y="3419856"/>
            <a:ext cx="4480560" cy="310896"/>
          </a:xfrm>
          <a:prstGeom prst="rect">
            <a:avLst/>
          </a:prstGeom>
          <a:noFill/>
          <a:ln/>
        </p:spPr>
        <p:txBody>
          <a:bodyPr wrap="square" lIns="0" tIns="0" rIns="0" bIns="0" rtlCol="0" anchor="ctr"/>
          <a:lstStyle/>
          <a:p>
            <a:pPr indent="0" marL="0">
              <a:buNone/>
            </a:pPr>
            <a:r>
              <a:rPr lang="en-US" sz="1400" b="1" dirty="0">
                <a:solidFill>
                  <a:srgbClr val="12161B"/>
                </a:solidFill>
                <a:latin typeface="Calibri" pitchFamily="34" charset="0"/>
                <a:ea typeface="Calibri" pitchFamily="34" charset="-122"/>
                <a:cs typeface="Calibri" pitchFamily="34" charset="-120"/>
              </a:rPr>
              <a:t>Anomaly</a:t>
            </a:r>
            <a:endParaRPr lang="en-US" sz="1400" dirty="0"/>
          </a:p>
        </p:txBody>
      </p:sp>
      <p:sp>
        <p:nvSpPr>
          <p:cNvPr id="19" name="Text 17"/>
          <p:cNvSpPr txBox="1"/>
          <p:nvPr/>
        </p:nvSpPr>
        <p:spPr>
          <a:xfrm>
            <a:off x="6812280" y="3749040"/>
            <a:ext cx="4480560" cy="777240"/>
          </a:xfrm>
          <a:prstGeom prst="rect">
            <a:avLst/>
          </a:prstGeom>
          <a:noFill/>
          <a:ln/>
        </p:spPr>
        <p:txBody>
          <a:bodyPr wrap="square" lIns="0" tIns="0" rIns="0" bIns="0" rtlCol="0" anchor="ctr"/>
          <a:lstStyle/>
          <a:p>
            <a:pPr indent="0" marL="0">
              <a:lnSpc>
                <a:spcPct val="120000"/>
              </a:lnSpc>
              <a:buNone/>
            </a:pPr>
            <a:r>
              <a:rPr lang="en-US" sz="1150" dirty="0">
                <a:solidFill>
                  <a:srgbClr val="6C727B"/>
                </a:solidFill>
                <a:latin typeface="Calibri" pitchFamily="34" charset="0"/>
                <a:ea typeface="Calibri" pitchFamily="34" charset="-122"/>
                <a:cs typeface="Calibri" pitchFamily="34" charset="-120"/>
              </a:rPr>
              <a:t>Mahalanobis with a χ² tail — independent z-scores double-count correlated dimensions</a:t>
            </a:r>
            <a:endParaRPr lang="en-US" sz="1150" dirty="0"/>
          </a:p>
        </p:txBody>
      </p:sp>
      <p:sp>
        <p:nvSpPr>
          <p:cNvPr id="20" name="Shape 18"/>
          <p:cNvSpPr/>
          <p:nvPr/>
        </p:nvSpPr>
        <p:spPr>
          <a:xfrm>
            <a:off x="640080" y="4754880"/>
            <a:ext cx="420624" cy="420624"/>
          </a:xfrm>
          <a:prstGeom prst="ellipse">
            <a:avLst/>
          </a:prstGeom>
          <a:solidFill>
            <a:srgbClr val="A86D16"/>
          </a:solidFill>
          <a:ln/>
        </p:spPr>
      </p:sp>
      <p:sp>
        <p:nvSpPr>
          <p:cNvPr id="21" name="Text 19"/>
          <p:cNvSpPr txBox="1"/>
          <p:nvPr/>
        </p:nvSpPr>
        <p:spPr>
          <a:xfrm>
            <a:off x="640080" y="4818888"/>
            <a:ext cx="420624"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2" name="Text 20"/>
          <p:cNvSpPr txBox="1"/>
          <p:nvPr/>
        </p:nvSpPr>
        <p:spPr>
          <a:xfrm>
            <a:off x="1234440" y="4718304"/>
            <a:ext cx="4480560" cy="310896"/>
          </a:xfrm>
          <a:prstGeom prst="rect">
            <a:avLst/>
          </a:prstGeom>
          <a:noFill/>
          <a:ln/>
        </p:spPr>
        <p:txBody>
          <a:bodyPr wrap="square" lIns="0" tIns="0" rIns="0" bIns="0" rtlCol="0" anchor="ctr"/>
          <a:lstStyle/>
          <a:p>
            <a:pPr indent="0" marL="0">
              <a:buNone/>
            </a:pPr>
            <a:r>
              <a:rPr lang="en-US" sz="1400" b="1" dirty="0">
                <a:solidFill>
                  <a:srgbClr val="12161B"/>
                </a:solidFill>
                <a:latin typeface="Calibri" pitchFamily="34" charset="0"/>
                <a:ea typeface="Calibri" pitchFamily="34" charset="-122"/>
                <a:cs typeface="Calibri" pitchFamily="34" charset="-120"/>
              </a:rPr>
              <a:t>Projection</a:t>
            </a:r>
            <a:endParaRPr lang="en-US" sz="1400" dirty="0"/>
          </a:p>
        </p:txBody>
      </p:sp>
      <p:sp>
        <p:nvSpPr>
          <p:cNvPr id="23" name="Text 21"/>
          <p:cNvSpPr txBox="1"/>
          <p:nvPr/>
        </p:nvSpPr>
        <p:spPr>
          <a:xfrm>
            <a:off x="1234440" y="5047488"/>
            <a:ext cx="4480560" cy="777240"/>
          </a:xfrm>
          <a:prstGeom prst="rect">
            <a:avLst/>
          </a:prstGeom>
          <a:noFill/>
          <a:ln/>
        </p:spPr>
        <p:txBody>
          <a:bodyPr wrap="square" lIns="0" tIns="0" rIns="0" bIns="0" rtlCol="0" anchor="ctr"/>
          <a:lstStyle/>
          <a:p>
            <a:pPr indent="0" marL="0">
              <a:lnSpc>
                <a:spcPct val="120000"/>
              </a:lnSpc>
              <a:buNone/>
            </a:pPr>
            <a:r>
              <a:rPr lang="en-US" sz="1150" dirty="0">
                <a:solidFill>
                  <a:srgbClr val="6C727B"/>
                </a:solidFill>
                <a:latin typeface="Calibri" pitchFamily="34" charset="0"/>
                <a:ea typeface="Calibri" pitchFamily="34" charset="-122"/>
                <a:cs typeface="Calibri" pitchFamily="34" charset="-120"/>
              </a:rPr>
              <a:t>Signed a-priori direction: Mahalanobis cannot tell evasive from unusually candid</a:t>
            </a:r>
            <a:endParaRPr lang="en-US" sz="1150" dirty="0"/>
          </a:p>
        </p:txBody>
      </p:sp>
      <p:sp>
        <p:nvSpPr>
          <p:cNvPr id="24" name="Shape 22"/>
          <p:cNvSpPr/>
          <p:nvPr/>
        </p:nvSpPr>
        <p:spPr>
          <a:xfrm>
            <a:off x="6217920" y="4754880"/>
            <a:ext cx="420624" cy="420624"/>
          </a:xfrm>
          <a:prstGeom prst="ellipse">
            <a:avLst/>
          </a:prstGeom>
          <a:solidFill>
            <a:srgbClr val="A86D16"/>
          </a:solidFill>
          <a:ln/>
        </p:spPr>
      </p:sp>
      <p:sp>
        <p:nvSpPr>
          <p:cNvPr id="25" name="Text 23"/>
          <p:cNvSpPr txBox="1"/>
          <p:nvPr/>
        </p:nvSpPr>
        <p:spPr>
          <a:xfrm>
            <a:off x="6217920" y="4818888"/>
            <a:ext cx="420624"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6" name="Text 24"/>
          <p:cNvSpPr txBox="1"/>
          <p:nvPr/>
        </p:nvSpPr>
        <p:spPr>
          <a:xfrm>
            <a:off x="6812280" y="4718304"/>
            <a:ext cx="4480560" cy="310896"/>
          </a:xfrm>
          <a:prstGeom prst="rect">
            <a:avLst/>
          </a:prstGeom>
          <a:noFill/>
          <a:ln/>
        </p:spPr>
        <p:txBody>
          <a:bodyPr wrap="square" lIns="0" tIns="0" rIns="0" bIns="0" rtlCol="0" anchor="ctr"/>
          <a:lstStyle/>
          <a:p>
            <a:pPr indent="0" marL="0">
              <a:buNone/>
            </a:pPr>
            <a:r>
              <a:rPr lang="en-US" sz="1400" b="1" dirty="0">
                <a:solidFill>
                  <a:srgbClr val="12161B"/>
                </a:solidFill>
                <a:latin typeface="Calibri" pitchFamily="34" charset="0"/>
                <a:ea typeface="Calibri" pitchFamily="34" charset="-122"/>
                <a:cs typeface="Calibri" pitchFamily="34" charset="-120"/>
              </a:rPr>
              <a:t>Validation</a:t>
            </a:r>
            <a:endParaRPr lang="en-US" sz="1400" dirty="0"/>
          </a:p>
        </p:txBody>
      </p:sp>
      <p:sp>
        <p:nvSpPr>
          <p:cNvPr id="27" name="Text 25"/>
          <p:cNvSpPr txBox="1"/>
          <p:nvPr/>
        </p:nvSpPr>
        <p:spPr>
          <a:xfrm>
            <a:off x="6812280" y="5047488"/>
            <a:ext cx="4480560" cy="777240"/>
          </a:xfrm>
          <a:prstGeom prst="rect">
            <a:avLst/>
          </a:prstGeom>
          <a:noFill/>
          <a:ln/>
        </p:spPr>
        <p:txBody>
          <a:bodyPr wrap="square" lIns="0" tIns="0" rIns="0" bIns="0" rtlCol="0" anchor="ctr"/>
          <a:lstStyle/>
          <a:p>
            <a:pPr indent="0" marL="0">
              <a:lnSpc>
                <a:spcPct val="120000"/>
              </a:lnSpc>
              <a:buNone/>
            </a:pPr>
            <a:r>
              <a:rPr lang="en-US" sz="1150" dirty="0">
                <a:solidFill>
                  <a:srgbClr val="6C727B"/>
                </a:solidFill>
                <a:latin typeface="Calibri" pitchFamily="34" charset="0"/>
                <a:ea typeface="Calibri" pitchFamily="34" charset="-122"/>
                <a:cs typeface="Calibri" pitchFamily="34" charset="-120"/>
              </a:rPr>
              <a:t>Blocked permutation and leave-one-speaker-out — in-sample fit is meaningless at this n</a:t>
            </a:r>
            <a:endParaRPr lang="en-US" sz="1150" dirty="0"/>
          </a:p>
        </p:txBody>
      </p:sp>
      <p:sp>
        <p:nvSpPr>
          <p:cNvPr id="28" name="Text 26"/>
          <p:cNvSpPr txBox="1"/>
          <p:nvPr/>
        </p:nvSpPr>
        <p:spPr>
          <a:xfrm>
            <a:off x="640080" y="5760720"/>
            <a:ext cx="10881360" cy="411480"/>
          </a:xfrm>
          <a:prstGeom prst="rect">
            <a:avLst/>
          </a:prstGeom>
          <a:noFill/>
          <a:ln/>
        </p:spPr>
        <p:txBody>
          <a:bodyPr wrap="square" lIns="0" tIns="0" rIns="0" bIns="0" rtlCol="0" anchor="ctr"/>
          <a:lstStyle/>
          <a:p>
            <a:pPr indent="0" marL="0">
              <a:buNone/>
            </a:pPr>
            <a:r>
              <a:rPr lang="en-US" sz="1250" i="1" dirty="0">
                <a:solidFill>
                  <a:srgbClr val="6C727B"/>
                </a:solidFill>
                <a:latin typeface="Calibri" pitchFamily="34" charset="0"/>
                <a:ea typeface="Calibri" pitchFamily="34" charset="-122"/>
                <a:cs typeface="Calibri" pitchFamily="34" charset="-120"/>
              </a:rPr>
              <a:t>62 tests — including one that scores identical statements through the Python and browser engines and fails above 2e-4. It has already caught a real bug.</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6F3"/>
        </a:solidFill>
      </p:bgPr>
    </p:bg>
    <p:spTree>
      <p:nvGrpSpPr>
        <p:cNvPr id="1" name=""/>
        <p:cNvGrpSpPr/>
        <p:nvPr/>
      </p:nvGrpSpPr>
      <p:grpSpPr>
        <a:xfrm>
          <a:off x="0" y="0"/>
          <a:ext cx="0" cy="0"/>
          <a:chOff x="0" y="0"/>
          <a:chExt cx="0" cy="0"/>
        </a:xfrm>
      </p:grpSpPr>
      <p:sp>
        <p:nvSpPr>
          <p:cNvPr id="2" name="Text 0"/>
          <p:cNvSpPr txBox="1"/>
          <p:nvPr/>
        </p:nvSpPr>
        <p:spPr>
          <a:xfrm>
            <a:off x="640080" y="566928"/>
            <a:ext cx="10881360" cy="822960"/>
          </a:xfrm>
          <a:prstGeom prst="rect">
            <a:avLst/>
          </a:prstGeom>
          <a:noFill/>
          <a:ln/>
        </p:spPr>
        <p:txBody>
          <a:bodyPr wrap="square" lIns="0" tIns="0" rIns="0" bIns="0" rtlCol="0" anchor="ctr"/>
          <a:lstStyle/>
          <a:p>
            <a:pPr indent="0" marL="0">
              <a:buNone/>
            </a:pPr>
            <a:r>
              <a:rPr lang="en-US" sz="3800" b="1" dirty="0">
                <a:solidFill>
                  <a:srgbClr val="12161B"/>
                </a:solidFill>
                <a:latin typeface="Cambria" pitchFamily="34" charset="0"/>
                <a:ea typeface="Cambria" pitchFamily="34" charset="-122"/>
                <a:cs typeface="Cambria" pitchFamily="34" charset="-120"/>
              </a:rPr>
              <a:t>What breaks it, and what it would cost to know</a:t>
            </a:r>
            <a:endParaRPr lang="en-US" sz="3800" dirty="0"/>
          </a:p>
        </p:txBody>
      </p:sp>
      <p:sp>
        <p:nvSpPr>
          <p:cNvPr id="3" name="Text 1"/>
          <p:cNvSpPr txBox="1"/>
          <p:nvPr/>
        </p:nvSpPr>
        <p:spPr>
          <a:xfrm>
            <a:off x="640080" y="1389888"/>
            <a:ext cx="10881360" cy="457200"/>
          </a:xfrm>
          <a:prstGeom prst="rect">
            <a:avLst/>
          </a:prstGeom>
          <a:noFill/>
          <a:ln/>
        </p:spPr>
        <p:txBody>
          <a:bodyPr wrap="square" lIns="0" tIns="0" rIns="0" bIns="0" rtlCol="0" anchor="ctr"/>
          <a:lstStyle/>
          <a:p>
            <a:pPr indent="0" marL="0">
              <a:buNone/>
            </a:pPr>
            <a:r>
              <a:rPr lang="en-US" sz="1500" dirty="0">
                <a:solidFill>
                  <a:srgbClr val="6C727B"/>
                </a:solidFill>
                <a:latin typeface="Calibri" pitchFamily="34" charset="0"/>
                <a:ea typeface="Calibri" pitchFamily="34" charset="-122"/>
                <a:cs typeface="Calibri" pitchFamily="34" charset="-120"/>
              </a:rPr>
              <a:t>The speaker modelled as a strategic agent under a legal constraint</a:t>
            </a:r>
            <a:endParaRPr lang="en-US" sz="1500" dirty="0"/>
          </a:p>
        </p:txBody>
      </p:sp>
      <p:sp>
        <p:nvSpPr>
          <p:cNvPr id="4" name="Shape 2"/>
          <p:cNvSpPr/>
          <p:nvPr/>
        </p:nvSpPr>
        <p:spPr>
          <a:xfrm>
            <a:off x="640080" y="2103120"/>
            <a:ext cx="5349240" cy="3383280"/>
          </a:xfrm>
          <a:prstGeom prst="rect">
            <a:avLst/>
          </a:prstGeom>
          <a:solidFill>
            <a:srgbClr val="FFFFFF"/>
          </a:solidFill>
          <a:ln w="12700">
            <a:solidFill>
              <a:srgbClr val="DEDFDA"/>
            </a:solidFill>
            <a:prstDash val="solid"/>
          </a:ln>
          <a:effectLst>
            <a:outerShdw sx="100000" sy="100000" kx="0" ky="0" algn="bl" rotWithShape="0" blurRad="177800" dist="25400" dir="5400000">
              <a:srgbClr val="000000">
                <a:alpha val="7000"/>
              </a:srgbClr>
            </a:outerShdw>
          </a:effectLst>
        </p:spPr>
      </p:sp>
      <p:sp>
        <p:nvSpPr>
          <p:cNvPr id="5" name="Text 3"/>
          <p:cNvSpPr txBox="1"/>
          <p:nvPr/>
        </p:nvSpPr>
        <p:spPr>
          <a:xfrm>
            <a:off x="914400" y="2331720"/>
            <a:ext cx="4846320" cy="365760"/>
          </a:xfrm>
          <a:prstGeom prst="rect">
            <a:avLst/>
          </a:prstGeom>
          <a:noFill/>
          <a:ln/>
        </p:spPr>
        <p:txBody>
          <a:bodyPr wrap="square" lIns="0" tIns="0" rIns="0" bIns="0" rtlCol="0" anchor="ctr"/>
          <a:lstStyle/>
          <a:p>
            <a:pPr indent="0" marL="0">
              <a:buNone/>
            </a:pPr>
            <a:r>
              <a:rPr lang="en-US" sz="1400" b="1" dirty="0">
                <a:solidFill>
                  <a:srgbClr val="12161B"/>
                </a:solidFill>
                <a:latin typeface="Calibri" pitchFamily="34" charset="0"/>
                <a:ea typeface="Calibri" pitchFamily="34" charset="-122"/>
                <a:cs typeface="Calibri" pitchFamily="34" charset="-120"/>
              </a:rPr>
              <a:t>When speakers know they are measured</a:t>
            </a:r>
            <a:endParaRPr lang="en-US" sz="1400" dirty="0"/>
          </a:p>
        </p:txBody>
      </p:sp>
      <p:sp>
        <p:nvSpPr>
          <p:cNvPr id="6" name="Text 4"/>
          <p:cNvSpPr txBox="1"/>
          <p:nvPr/>
        </p:nvSpPr>
        <p:spPr>
          <a:xfrm>
            <a:off x="914400" y="2743200"/>
            <a:ext cx="4846320" cy="2514600"/>
          </a:xfrm>
          <a:prstGeom prst="rect">
            <a:avLst/>
          </a:prstGeom>
          <a:noFill/>
          <a:ln/>
        </p:spPr>
        <p:txBody>
          <a:bodyPr wrap="square" lIns="0" tIns="0" rIns="0" bIns="0" rtlCol="0" anchor="ctr"/>
          <a:lstStyle/>
          <a:p>
            <a:pPr indent="0" marL="0">
              <a:lnSpc>
                <a:spcPct val="128000"/>
              </a:lnSpc>
              <a:buNone/>
            </a:pPr>
            <a:r>
              <a:rPr lang="en-US" sz="1200" b="1" dirty="0">
                <a:solidFill>
                  <a:srgbClr val="12161B"/>
                </a:solidFill>
                <a:latin typeface="Calibri" pitchFamily="34" charset="0"/>
                <a:ea typeface="Calibri" pitchFamily="34" charset="-122"/>
                <a:cs typeface="Calibri" pitchFamily="34" charset="-120"/>
              </a:rPr>
              <a:t>Register collapses 1.00 → 0.13. </a:t>
            </a:r>
            <a:pPr indent="0" marL="0">
              <a:lnSpc>
                <a:spcPct val="128000"/>
              </a:lnSpc>
              <a:buNone/>
            </a:pPr>
            <a:r>
              <a:rPr lang="en-US" sz="1200" dirty="0">
                <a:solidFill>
                  <a:srgbClr val="12161B"/>
                </a:solidFill>
                <a:latin typeface="Calibri" pitchFamily="34" charset="0"/>
                <a:ea typeface="Calibri" pitchFamily="34" charset="-122"/>
                <a:cs typeface="Calibri" pitchFamily="34" charset="-120"/>
              </a:rPr>
              <a:t>They stop hedging and start saying “I won’t answer that.” But correlation with what is actually withheld only moves 0.48 → 0.32 — the signature migrates out of the lexicon rather than disappearing.</a:t>
            </a:r>
            <a:endParaRPr lang="en-US" sz="1200" dirty="0"/>
          </a:p>
          <a:p>
            <a:pPr indent="0" marL="0">
              <a:lnSpc>
                <a:spcPct val="128000"/>
              </a:lnSpc>
              <a:buNone/>
            </a:pPr>
            <a:r>
              <a:rPr lang="en-US" sz="1200" dirty="0">
                <a:solidFill>
                  <a:srgbClr val="12161B"/>
                </a:solidFill>
                <a:latin typeface="Calibri" pitchFamily="34" charset="0"/>
                <a:ea typeface="Calibri" pitchFamily="34" charset="-122"/>
                <a:cs typeface="Calibri" pitchFamily="34" charset="-120"/>
              </a:rPr>
              <a:t>
</a:t>
            </a:r>
            <a:pPr indent="0" marL="0">
              <a:lnSpc>
                <a:spcPct val="128000"/>
              </a:lnSpc>
              <a:buNone/>
            </a:pPr>
            <a:r>
              <a:rPr lang="en-US" sz="1200" b="1" dirty="0">
                <a:solidFill>
                  <a:srgbClr val="12161B"/>
                </a:solidFill>
                <a:latin typeface="Calibri" pitchFamily="34" charset="0"/>
                <a:ea typeface="Calibri" pitchFamily="34" charset="-122"/>
                <a:cs typeface="Calibri" pitchFamily="34" charset="-120"/>
              </a:rPr>
              <a:t>Two businesses, opposite decay curves. </a:t>
            </a:r>
            <a:pPr indent="0" marL="0">
              <a:lnSpc>
                <a:spcPct val="128000"/>
              </a:lnSpc>
              <a:buNone/>
            </a:pPr>
            <a:r>
              <a:rPr lang="en-US" sz="1200" dirty="0">
                <a:solidFill>
                  <a:srgbClr val="12161B"/>
                </a:solidFill>
                <a:latin typeface="Calibri" pitchFamily="34" charset="0"/>
                <a:ea typeface="Calibri" pitchFamily="34" charset="-122"/>
                <a:cs typeface="Calibri" pitchFamily="34" charset="-120"/>
              </a:rPr>
              <a:t>A trading customer sees a degrading signal. A compliance customer sees the product working: it pushes people from talking around a subject to declining it on the record.</a:t>
            </a:r>
            <a:endParaRPr lang="en-US" sz="1200" dirty="0"/>
          </a:p>
        </p:txBody>
      </p:sp>
      <p:sp>
        <p:nvSpPr>
          <p:cNvPr id="7" name="Shape 5"/>
          <p:cNvSpPr/>
          <p:nvPr/>
        </p:nvSpPr>
        <p:spPr>
          <a:xfrm>
            <a:off x="6172200" y="2103120"/>
            <a:ext cx="5349240" cy="3383280"/>
          </a:xfrm>
          <a:prstGeom prst="rect">
            <a:avLst/>
          </a:prstGeom>
          <a:solidFill>
            <a:srgbClr val="FFFFFF"/>
          </a:solidFill>
          <a:ln w="12700">
            <a:solidFill>
              <a:srgbClr val="DEDFDA"/>
            </a:solidFill>
            <a:prstDash val="solid"/>
          </a:ln>
          <a:effectLst>
            <a:outerShdw sx="100000" sy="100000" kx="0" ky="0" algn="bl" rotWithShape="0" blurRad="177800" dist="25400" dir="5400000">
              <a:srgbClr val="000000">
                <a:alpha val="7000"/>
              </a:srgbClr>
            </a:outerShdw>
          </a:effectLst>
        </p:spPr>
      </p:sp>
      <p:sp>
        <p:nvSpPr>
          <p:cNvPr id="8" name="Text 6"/>
          <p:cNvSpPr txBox="1"/>
          <p:nvPr/>
        </p:nvSpPr>
        <p:spPr>
          <a:xfrm>
            <a:off x="6446520" y="2331720"/>
            <a:ext cx="4846320" cy="365760"/>
          </a:xfrm>
          <a:prstGeom prst="rect">
            <a:avLst/>
          </a:prstGeom>
          <a:noFill/>
          <a:ln/>
        </p:spPr>
        <p:txBody>
          <a:bodyPr wrap="square" lIns="0" tIns="0" rIns="0" bIns="0" rtlCol="0" anchor="ctr"/>
          <a:lstStyle/>
          <a:p>
            <a:pPr indent="0" marL="0">
              <a:buNone/>
            </a:pPr>
            <a:r>
              <a:rPr lang="en-US" sz="1400" b="1" dirty="0">
                <a:solidFill>
                  <a:srgbClr val="12161B"/>
                </a:solidFill>
                <a:latin typeface="Calibri" pitchFamily="34" charset="0"/>
                <a:ea typeface="Calibri" pitchFamily="34" charset="-122"/>
                <a:cs typeface="Calibri" pitchFamily="34" charset="-120"/>
              </a:rPr>
              <a:t>How much data settles it</a:t>
            </a:r>
            <a:endParaRPr lang="en-US" sz="1400" dirty="0"/>
          </a:p>
        </p:txBody>
      </p:sp>
      <p:sp>
        <p:nvSpPr>
          <p:cNvPr id="9" name="Text 7"/>
          <p:cNvSpPr txBox="1"/>
          <p:nvPr/>
        </p:nvSpPr>
        <p:spPr>
          <a:xfrm>
            <a:off x="6446520" y="2743200"/>
            <a:ext cx="1371600" cy="777240"/>
          </a:xfrm>
          <a:prstGeom prst="rect">
            <a:avLst/>
          </a:prstGeom>
          <a:noFill/>
          <a:ln/>
        </p:spPr>
        <p:txBody>
          <a:bodyPr wrap="square" lIns="0" tIns="0" rIns="0" bIns="0" rtlCol="0" anchor="ctr"/>
          <a:lstStyle/>
          <a:p>
            <a:pPr indent="0" marL="0">
              <a:buNone/>
            </a:pPr>
            <a:r>
              <a:rPr lang="en-US" sz="4400" b="1" dirty="0">
                <a:solidFill>
                  <a:srgbClr val="A86D16"/>
                </a:solidFill>
                <a:latin typeface="Calibri" pitchFamily="34" charset="0"/>
                <a:ea typeface="Calibri" pitchFamily="34" charset="-122"/>
                <a:cs typeface="Calibri" pitchFamily="34" charset="-120"/>
              </a:rPr>
              <a:t>14</a:t>
            </a:r>
            <a:endParaRPr lang="en-US" sz="4400" dirty="0"/>
          </a:p>
        </p:txBody>
      </p:sp>
      <p:sp>
        <p:nvSpPr>
          <p:cNvPr id="10" name="Text 8"/>
          <p:cNvSpPr txBox="1"/>
          <p:nvPr/>
        </p:nvSpPr>
        <p:spPr>
          <a:xfrm>
            <a:off x="7772400" y="2907792"/>
            <a:ext cx="3566160" cy="731520"/>
          </a:xfrm>
          <a:prstGeom prst="rect">
            <a:avLst/>
          </a:prstGeom>
          <a:noFill/>
          <a:ln/>
        </p:spPr>
        <p:txBody>
          <a:bodyPr wrap="square" lIns="0" tIns="0" rIns="0" bIns="0" rtlCol="0" anchor="ctr"/>
          <a:lstStyle/>
          <a:p>
            <a:pPr indent="0" marL="0">
              <a:lnSpc>
                <a:spcPct val="120000"/>
              </a:lnSpc>
              <a:buNone/>
            </a:pPr>
            <a:r>
              <a:rPr lang="en-US" sz="1250" dirty="0">
                <a:solidFill>
                  <a:srgbClr val="12161B"/>
                </a:solidFill>
                <a:latin typeface="Calibri" pitchFamily="34" charset="0"/>
                <a:ea typeface="Calibri" pitchFamily="34" charset="-122"/>
                <a:cs typeface="Calibri" pitchFamily="34" charset="-120"/>
              </a:rPr>
              <a:t>speakers × 6 baseline statements each</a:t>
            </a:r>
            <a:endParaRPr lang="en-US" sz="1250" dirty="0"/>
          </a:p>
          <a:p>
            <a:pPr indent="0" marL="0">
              <a:lnSpc>
                <a:spcPct val="120000"/>
              </a:lnSpc>
              <a:buNone/>
            </a:pPr>
            <a:r>
              <a:rPr lang="en-US" sz="1250" dirty="0">
                <a:solidFill>
                  <a:srgbClr val="12161B"/>
                </a:solidFill>
                <a:latin typeface="Calibri" pitchFamily="34" charset="0"/>
                <a:ea typeface="Calibri" pitchFamily="34" charset="-122"/>
                <a:cs typeface="Calibri" pitchFamily="34" charset="-120"/>
              </a:rPr>
              <a:t>reaches 0.88 power</a:t>
            </a:r>
            <a:endParaRPr lang="en-US" sz="1250" dirty="0"/>
          </a:p>
        </p:txBody>
      </p:sp>
      <p:sp>
        <p:nvSpPr>
          <p:cNvPr id="11" name="Text 9"/>
          <p:cNvSpPr txBox="1"/>
          <p:nvPr/>
        </p:nvSpPr>
        <p:spPr>
          <a:xfrm>
            <a:off x="6446520" y="3794760"/>
            <a:ext cx="4846320" cy="1554480"/>
          </a:xfrm>
          <a:prstGeom prst="rect">
            <a:avLst/>
          </a:prstGeom>
          <a:noFill/>
          <a:ln/>
        </p:spPr>
        <p:txBody>
          <a:bodyPr wrap="square" lIns="0" tIns="0" rIns="0" bIns="0" rtlCol="0" anchor="ctr"/>
          <a:lstStyle/>
          <a:p>
            <a:pPr indent="0" marL="0">
              <a:lnSpc>
                <a:spcPct val="128000"/>
              </a:lnSpc>
              <a:buNone/>
            </a:pPr>
            <a:r>
              <a:rPr lang="en-US" sz="1150" dirty="0">
                <a:solidFill>
                  <a:srgbClr val="6C727B"/>
                </a:solidFill>
                <a:latin typeface="Calibri" pitchFamily="34" charset="0"/>
                <a:ea typeface="Calibri" pitchFamily="34" charset="-122"/>
                <a:cs typeface="Calibri" pitchFamily="34" charset="-120"/>
              </a:rPr>
              <a:t>Baseline depth is the better purchase than roster width — going from 3 to 6 baselines buys more power than going from 14 to 22 speakers. Depth is archival and cheap; width is a licensing problem. That reorders the acquisition plan, and it is the kind of answer only a simulator gives before the data exists.</a:t>
            </a:r>
            <a:endParaRPr lang="en-US" sz="1150" dirty="0"/>
          </a:p>
        </p:txBody>
      </p:sp>
      <p:sp>
        <p:nvSpPr>
          <p:cNvPr id="12" name="Text 10"/>
          <p:cNvSpPr txBox="1"/>
          <p:nvPr/>
        </p:nvSpPr>
        <p:spPr>
          <a:xfrm>
            <a:off x="640080" y="5760720"/>
            <a:ext cx="10881360" cy="365760"/>
          </a:xfrm>
          <a:prstGeom prst="rect">
            <a:avLst/>
          </a:prstGeom>
          <a:noFill/>
          <a:ln/>
        </p:spPr>
        <p:txBody>
          <a:bodyPr wrap="square" lIns="0" tIns="0" rIns="0" bIns="0" rtlCol="0" anchor="ctr"/>
          <a:lstStyle/>
          <a:p>
            <a:pPr indent="0" marL="0">
              <a:buNone/>
            </a:pPr>
            <a:r>
              <a:rPr lang="en-US" sz="1250" i="1" dirty="0">
                <a:solidFill>
                  <a:srgbClr val="6C727B"/>
                </a:solidFill>
                <a:latin typeface="Calibri" pitchFamily="34" charset="0"/>
                <a:ea typeface="Calibri" pitchFamily="34" charset="-122"/>
                <a:cs typeface="Calibri" pitchFamily="34" charset="-120"/>
              </a:rPr>
              <a:t>“We are underpowered” becomes a procurement target.</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161B"/>
        </a:solidFill>
      </p:bgPr>
    </p:bg>
    <p:spTree>
      <p:nvGrpSpPr>
        <p:cNvPr id="1" name=""/>
        <p:cNvGrpSpPr/>
        <p:nvPr/>
      </p:nvGrpSpPr>
      <p:grpSpPr>
        <a:xfrm>
          <a:off x="0" y="0"/>
          <a:ext cx="0" cy="0"/>
          <a:chOff x="0" y="0"/>
          <a:chExt cx="0" cy="0"/>
        </a:xfrm>
      </p:grpSpPr>
      <p:sp>
        <p:nvSpPr>
          <p:cNvPr id="2" name="Text 0"/>
          <p:cNvSpPr txBox="1"/>
          <p:nvPr/>
        </p:nvSpPr>
        <p:spPr>
          <a:xfrm>
            <a:off x="640080" y="566928"/>
            <a:ext cx="1088136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What we want from the fellowship</a:t>
            </a:r>
            <a:endParaRPr lang="en-US" sz="3800" dirty="0"/>
          </a:p>
        </p:txBody>
      </p:sp>
      <p:sp>
        <p:nvSpPr>
          <p:cNvPr id="3" name="Text 1"/>
          <p:cNvSpPr txBox="1"/>
          <p:nvPr/>
        </p:nvSpPr>
        <p:spPr>
          <a:xfrm>
            <a:off x="640080" y="1389888"/>
            <a:ext cx="10881360" cy="457200"/>
          </a:xfrm>
          <a:prstGeom prst="rect">
            <a:avLst/>
          </a:prstGeom>
          <a:noFill/>
          <a:ln/>
        </p:spPr>
        <p:txBody>
          <a:bodyPr wrap="square" lIns="0" tIns="0" rIns="0" bIns="0" rtlCol="0" anchor="ctr"/>
          <a:lstStyle/>
          <a:p>
            <a:pPr indent="0" marL="0">
              <a:buNone/>
            </a:pPr>
            <a:r>
              <a:rPr lang="en-US" sz="1500" dirty="0">
                <a:solidFill>
                  <a:srgbClr val="B6BCC4"/>
                </a:solidFill>
                <a:latin typeface="Calibri" pitchFamily="34" charset="0"/>
                <a:ea typeface="Calibri" pitchFamily="34" charset="-122"/>
                <a:cs typeface="Calibri" pitchFamily="34" charset="-120"/>
              </a:rPr>
              <a:t>The modelling question we would bring to an FDE on day one</a:t>
            </a:r>
            <a:endParaRPr lang="en-US" sz="1500" dirty="0"/>
          </a:p>
        </p:txBody>
      </p:sp>
      <p:sp>
        <p:nvSpPr>
          <p:cNvPr id="4" name="Text 2"/>
          <p:cNvSpPr txBox="1"/>
          <p:nvPr/>
        </p:nvSpPr>
        <p:spPr>
          <a:xfrm>
            <a:off x="640080" y="2103120"/>
            <a:ext cx="10881360" cy="640080"/>
          </a:xfrm>
          <a:prstGeom prst="rect">
            <a:avLst/>
          </a:prstGeom>
          <a:noFill/>
          <a:ln/>
        </p:spPr>
        <p:txBody>
          <a:bodyPr wrap="square" lIns="0" tIns="0" rIns="0" bIns="0" rtlCol="0" anchor="ctr"/>
          <a:lstStyle/>
          <a:p>
            <a:pPr indent="0" marL="0">
              <a:lnSpc>
                <a:spcPct val="130000"/>
              </a:lnSpc>
              <a:buNone/>
            </a:pPr>
            <a:r>
              <a:rPr lang="en-US" sz="1400" dirty="0">
                <a:solidFill>
                  <a:srgbClr val="B6BCC4"/>
                </a:solidFill>
                <a:latin typeface="Calibri" pitchFamily="34" charset="0"/>
                <a:ea typeface="Calibri" pitchFamily="34" charset="-122"/>
                <a:cs typeface="Calibri" pitchFamily="34" charset="-120"/>
              </a:rPr>
              <a:t>The ontology is Speaker → Statement → Event → Outcome, domain-agnostic by construction. The load-bearing decision is where the baseline lives.</a:t>
            </a:r>
            <a:endParaRPr lang="en-US" sz="1400" dirty="0"/>
          </a:p>
        </p:txBody>
      </p:sp>
      <p:sp>
        <p:nvSpPr>
          <p:cNvPr id="5" name="Shape 3"/>
          <p:cNvSpPr/>
          <p:nvPr/>
        </p:nvSpPr>
        <p:spPr>
          <a:xfrm>
            <a:off x="640080" y="2971800"/>
            <a:ext cx="2560320" cy="2148840"/>
          </a:xfrm>
          <a:prstGeom prst="rect">
            <a:avLst/>
          </a:prstGeom>
          <a:solidFill>
            <a:srgbClr val="1C2129"/>
          </a:solidFill>
          <a:ln w="25400">
            <a:solidFill>
              <a:srgbClr val="A86D16"/>
            </a:solidFill>
            <a:prstDash val="solid"/>
          </a:ln>
        </p:spPr>
      </p:sp>
      <p:sp>
        <p:nvSpPr>
          <p:cNvPr id="6" name="Text 4"/>
          <p:cNvSpPr txBox="1"/>
          <p:nvPr/>
        </p:nvSpPr>
        <p:spPr>
          <a:xfrm>
            <a:off x="896112" y="3200400"/>
            <a:ext cx="2057400" cy="347472"/>
          </a:xfrm>
          <a:prstGeom prst="rect">
            <a:avLst/>
          </a:prstGeom>
          <a:noFill/>
          <a:ln/>
        </p:spPr>
        <p:txBody>
          <a:bodyPr wrap="square" lIns="0" tIns="0" rIns="0" bIns="0" rtlCol="0" anchor="ctr"/>
          <a:lstStyle/>
          <a:p>
            <a:pPr indent="0" marL="0">
              <a:buNone/>
            </a:pPr>
            <a:r>
              <a:rPr lang="en-US" sz="1500" b="1" dirty="0">
                <a:solidFill>
                  <a:srgbClr val="A86D16"/>
                </a:solidFill>
                <a:latin typeface="Calibri" pitchFamily="34" charset="0"/>
                <a:ea typeface="Calibri" pitchFamily="34" charset="-122"/>
                <a:cs typeface="Calibri" pitchFamily="34" charset="-120"/>
              </a:rPr>
              <a:t>Speaker</a:t>
            </a:r>
            <a:endParaRPr lang="en-US" sz="1500" dirty="0"/>
          </a:p>
        </p:txBody>
      </p:sp>
      <p:sp>
        <p:nvSpPr>
          <p:cNvPr id="7" name="Text 5"/>
          <p:cNvSpPr txBox="1"/>
          <p:nvPr/>
        </p:nvSpPr>
        <p:spPr>
          <a:xfrm>
            <a:off x="896112" y="3611880"/>
            <a:ext cx="2057400" cy="1371600"/>
          </a:xfrm>
          <a:prstGeom prst="rect">
            <a:avLst/>
          </a:prstGeom>
          <a:noFill/>
          <a:ln/>
        </p:spPr>
        <p:txBody>
          <a:bodyPr wrap="square" lIns="0" tIns="0" rIns="0" bIns="0" rtlCol="0" anchor="ctr"/>
          <a:lstStyle/>
          <a:p>
            <a:pPr indent="0" marL="0">
              <a:lnSpc>
                <a:spcPct val="125000"/>
              </a:lnSpc>
              <a:buNone/>
            </a:pPr>
            <a:r>
              <a:rPr lang="en-US" sz="1100" dirty="0">
                <a:solidFill>
                  <a:srgbClr val="B6BCC4"/>
                </a:solidFill>
                <a:latin typeface="Calibri" pitchFamily="34" charset="0"/>
                <a:ea typeface="Calibri" pitchFamily="34" charset="-122"/>
                <a:cs typeface="Calibri" pitchFamily="34" charset="-120"/>
              </a:rPr>
              <a:t>Longitudinal baseline as a PROPERTY — so it compounds as statements arrive, rather than being recomputed per query</a:t>
            </a:r>
            <a:endParaRPr lang="en-US" sz="1100" dirty="0"/>
          </a:p>
        </p:txBody>
      </p:sp>
      <p:sp>
        <p:nvSpPr>
          <p:cNvPr id="8" name="Shape 6"/>
          <p:cNvSpPr/>
          <p:nvPr/>
        </p:nvSpPr>
        <p:spPr>
          <a:xfrm>
            <a:off x="3383280" y="2971800"/>
            <a:ext cx="2560320" cy="2148840"/>
          </a:xfrm>
          <a:prstGeom prst="rect">
            <a:avLst/>
          </a:prstGeom>
          <a:solidFill>
            <a:srgbClr val="1C2129"/>
          </a:solidFill>
          <a:ln w="12700">
            <a:solidFill>
              <a:srgbClr val="39404A"/>
            </a:solidFill>
            <a:prstDash val="solid"/>
          </a:ln>
        </p:spPr>
      </p:sp>
      <p:sp>
        <p:nvSpPr>
          <p:cNvPr id="9" name="Text 7"/>
          <p:cNvSpPr txBox="1"/>
          <p:nvPr/>
        </p:nvSpPr>
        <p:spPr>
          <a:xfrm>
            <a:off x="3639312" y="3200400"/>
            <a:ext cx="2057400" cy="347472"/>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Statement</a:t>
            </a:r>
            <a:endParaRPr lang="en-US" sz="1500" dirty="0"/>
          </a:p>
        </p:txBody>
      </p:sp>
      <p:sp>
        <p:nvSpPr>
          <p:cNvPr id="10" name="Text 8"/>
          <p:cNvSpPr txBox="1"/>
          <p:nvPr/>
        </p:nvSpPr>
        <p:spPr>
          <a:xfrm>
            <a:off x="3639312" y="3611880"/>
            <a:ext cx="2057400" cy="1371600"/>
          </a:xfrm>
          <a:prstGeom prst="rect">
            <a:avLst/>
          </a:prstGeom>
          <a:noFill/>
          <a:ln/>
        </p:spPr>
        <p:txBody>
          <a:bodyPr wrap="square" lIns="0" tIns="0" rIns="0" bIns="0" rtlCol="0" anchor="ctr"/>
          <a:lstStyle/>
          <a:p>
            <a:pPr indent="0" marL="0">
              <a:lnSpc>
                <a:spcPct val="125000"/>
              </a:lnSpc>
              <a:buNone/>
            </a:pPr>
            <a:r>
              <a:rPr lang="en-US" sz="1100" dirty="0">
                <a:solidFill>
                  <a:srgbClr val="B6BCC4"/>
                </a:solidFill>
                <a:latin typeface="Calibri" pitchFamily="34" charset="0"/>
                <a:ea typeface="Calibri" pitchFamily="34" charset="-122"/>
                <a:cs typeface="Calibri" pitchFamily="34" charset="-120"/>
              </a:rPr>
              <a:t>AIP Agent Studio extraction with quote-level citations, replacing the lexical scorer</a:t>
            </a:r>
            <a:endParaRPr lang="en-US" sz="1100" dirty="0"/>
          </a:p>
        </p:txBody>
      </p:sp>
      <p:sp>
        <p:nvSpPr>
          <p:cNvPr id="11" name="Shape 9"/>
          <p:cNvSpPr/>
          <p:nvPr/>
        </p:nvSpPr>
        <p:spPr>
          <a:xfrm>
            <a:off x="6126480" y="2971800"/>
            <a:ext cx="2560320" cy="2148840"/>
          </a:xfrm>
          <a:prstGeom prst="rect">
            <a:avLst/>
          </a:prstGeom>
          <a:solidFill>
            <a:srgbClr val="1C2129"/>
          </a:solidFill>
          <a:ln w="12700">
            <a:solidFill>
              <a:srgbClr val="39404A"/>
            </a:solidFill>
            <a:prstDash val="solid"/>
          </a:ln>
        </p:spPr>
      </p:sp>
      <p:sp>
        <p:nvSpPr>
          <p:cNvPr id="12" name="Text 10"/>
          <p:cNvSpPr txBox="1"/>
          <p:nvPr/>
        </p:nvSpPr>
        <p:spPr>
          <a:xfrm>
            <a:off x="6382512" y="3200400"/>
            <a:ext cx="2057400" cy="347472"/>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Event</a:t>
            </a:r>
            <a:endParaRPr lang="en-US" sz="1500" dirty="0"/>
          </a:p>
        </p:txBody>
      </p:sp>
      <p:sp>
        <p:nvSpPr>
          <p:cNvPr id="13" name="Text 11"/>
          <p:cNvSpPr txBox="1"/>
          <p:nvPr/>
        </p:nvSpPr>
        <p:spPr>
          <a:xfrm>
            <a:off x="6382512" y="3611880"/>
            <a:ext cx="2057400" cy="1371600"/>
          </a:xfrm>
          <a:prstGeom prst="rect">
            <a:avLst/>
          </a:prstGeom>
          <a:noFill/>
          <a:ln/>
        </p:spPr>
        <p:txBody>
          <a:bodyPr wrap="square" lIns="0" tIns="0" rIns="0" bIns="0" rtlCol="0" anchor="ctr"/>
          <a:lstStyle/>
          <a:p>
            <a:pPr indent="0" marL="0">
              <a:lnSpc>
                <a:spcPct val="125000"/>
              </a:lnSpc>
              <a:buNone/>
            </a:pPr>
            <a:r>
              <a:rPr lang="en-US" sz="1100" dirty="0">
                <a:solidFill>
                  <a:srgbClr val="B6BCC4"/>
                </a:solidFill>
                <a:latin typeface="Calibri" pitchFamily="34" charset="0"/>
                <a:ea typeface="Calibri" pitchFamily="34" charset="-122"/>
                <a:cs typeface="Calibri" pitchFamily="34" charset="-120"/>
              </a:rPr>
              <a:t>Pipeline Builder ingestion against the published constraint calendar</a:t>
            </a:r>
            <a:endParaRPr lang="en-US" sz="1100" dirty="0"/>
          </a:p>
        </p:txBody>
      </p:sp>
      <p:sp>
        <p:nvSpPr>
          <p:cNvPr id="14" name="Shape 12"/>
          <p:cNvSpPr/>
          <p:nvPr/>
        </p:nvSpPr>
        <p:spPr>
          <a:xfrm>
            <a:off x="8869680" y="2971800"/>
            <a:ext cx="2560320" cy="2148840"/>
          </a:xfrm>
          <a:prstGeom prst="rect">
            <a:avLst/>
          </a:prstGeom>
          <a:solidFill>
            <a:srgbClr val="1C2129"/>
          </a:solidFill>
          <a:ln w="12700">
            <a:solidFill>
              <a:srgbClr val="39404A"/>
            </a:solidFill>
            <a:prstDash val="solid"/>
          </a:ln>
        </p:spPr>
      </p:sp>
      <p:sp>
        <p:nvSpPr>
          <p:cNvPr id="15" name="Text 13"/>
          <p:cNvSpPr txBox="1"/>
          <p:nvPr/>
        </p:nvSpPr>
        <p:spPr>
          <a:xfrm>
            <a:off x="9125712" y="3200400"/>
            <a:ext cx="2057400" cy="347472"/>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Outcome</a:t>
            </a:r>
            <a:endParaRPr lang="en-US" sz="1500" dirty="0"/>
          </a:p>
        </p:txBody>
      </p:sp>
      <p:sp>
        <p:nvSpPr>
          <p:cNvPr id="16" name="Text 14"/>
          <p:cNvSpPr txBox="1"/>
          <p:nvPr/>
        </p:nvSpPr>
        <p:spPr>
          <a:xfrm>
            <a:off x="9125712" y="3611880"/>
            <a:ext cx="2057400" cy="1371600"/>
          </a:xfrm>
          <a:prstGeom prst="rect">
            <a:avLst/>
          </a:prstGeom>
          <a:noFill/>
          <a:ln/>
        </p:spPr>
        <p:txBody>
          <a:bodyPr wrap="square" lIns="0" tIns="0" rIns="0" bIns="0" rtlCol="0" anchor="ctr"/>
          <a:lstStyle/>
          <a:p>
            <a:pPr indent="0" marL="0">
              <a:lnSpc>
                <a:spcPct val="125000"/>
              </a:lnSpc>
              <a:buNone/>
            </a:pPr>
            <a:r>
              <a:rPr lang="en-US" sz="1100" dirty="0">
                <a:solidFill>
                  <a:srgbClr val="B6BCC4"/>
                </a:solidFill>
                <a:latin typeface="Calibri" pitchFamily="34" charset="0"/>
                <a:ea typeface="Calibri" pitchFamily="34" charset="-122"/>
                <a:cs typeface="Calibri" pitchFamily="34" charset="-120"/>
              </a:rPr>
              <a:t>The verification layer — what the world subsequently did</a:t>
            </a:r>
            <a:endParaRPr lang="en-US" sz="1100" dirty="0"/>
          </a:p>
        </p:txBody>
      </p:sp>
      <p:sp>
        <p:nvSpPr>
          <p:cNvPr id="17" name="Text 15"/>
          <p:cNvSpPr txBox="1"/>
          <p:nvPr/>
        </p:nvSpPr>
        <p:spPr>
          <a:xfrm>
            <a:off x="640080" y="5532120"/>
            <a:ext cx="10881360" cy="640080"/>
          </a:xfrm>
          <a:prstGeom prst="rect">
            <a:avLst/>
          </a:prstGeom>
          <a:noFill/>
          <a:ln/>
        </p:spPr>
        <p:txBody>
          <a:bodyPr wrap="square" lIns="0" tIns="0" rIns="0" bIns="0" rtlCol="0" anchor="ctr"/>
          <a:lstStyle/>
          <a:p>
            <a:pPr indent="0" marL="0">
              <a:lnSpc>
                <a:spcPct val="120000"/>
              </a:lnSpc>
              <a:buNone/>
            </a:pPr>
            <a:r>
              <a:rPr lang="en-US" sz="1500" i="1" dirty="0">
                <a:solidFill>
                  <a:srgbClr val="A86D16"/>
                </a:solidFill>
                <a:latin typeface="Cambria" pitchFamily="34" charset="0"/>
                <a:ea typeface="Cambria" pitchFamily="34" charset="-122"/>
                <a:cs typeface="Cambria" pitchFamily="34" charset="-120"/>
              </a:rPr>
              <a:t>How should a longitudinal, continuously-updating statistical property be modelled on an object type so it stays consistent as new statements arrive?</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6F3"/>
        </a:solidFill>
      </p:bgPr>
    </p:bg>
    <p:spTree>
      <p:nvGrpSpPr>
        <p:cNvPr id="1" name=""/>
        <p:cNvGrpSpPr/>
        <p:nvPr/>
      </p:nvGrpSpPr>
      <p:grpSpPr>
        <a:xfrm>
          <a:off x="0" y="0"/>
          <a:ext cx="0" cy="0"/>
          <a:chOff x="0" y="0"/>
          <a:chExt cx="0" cy="0"/>
        </a:xfrm>
      </p:grpSpPr>
      <p:sp>
        <p:nvSpPr>
          <p:cNvPr id="2" name="Text 0"/>
          <p:cNvSpPr txBox="1"/>
          <p:nvPr/>
        </p:nvSpPr>
        <p:spPr>
          <a:xfrm>
            <a:off x="822960" y="1371600"/>
            <a:ext cx="10515600" cy="731520"/>
          </a:xfrm>
          <a:prstGeom prst="rect">
            <a:avLst/>
          </a:prstGeom>
          <a:noFill/>
          <a:ln/>
        </p:spPr>
        <p:txBody>
          <a:bodyPr wrap="square" lIns="0" tIns="0" rIns="0" bIns="0" rtlCol="0" anchor="ctr"/>
          <a:lstStyle/>
          <a:p>
            <a:pPr indent="0" marL="0">
              <a:buNone/>
            </a:pPr>
            <a:r>
              <a:rPr lang="en-US" sz="3800" b="1" dirty="0">
                <a:solidFill>
                  <a:srgbClr val="12161B"/>
                </a:solidFill>
                <a:latin typeface="Cambria" pitchFamily="34" charset="0"/>
                <a:ea typeface="Cambria" pitchFamily="34" charset="-122"/>
                <a:cs typeface="Cambria" pitchFamily="34" charset="-120"/>
              </a:rPr>
              <a:t>What exists today</a:t>
            </a:r>
            <a:endParaRPr lang="en-US" sz="3800" dirty="0"/>
          </a:p>
        </p:txBody>
      </p:sp>
      <p:sp>
        <p:nvSpPr>
          <p:cNvPr id="3" name="Shape 1"/>
          <p:cNvSpPr/>
          <p:nvPr/>
        </p:nvSpPr>
        <p:spPr>
          <a:xfrm>
            <a:off x="868680" y="2395728"/>
            <a:ext cx="146304" cy="146304"/>
          </a:xfrm>
          <a:prstGeom prst="ellipse">
            <a:avLst/>
          </a:prstGeom>
          <a:solidFill>
            <a:srgbClr val="A86D16"/>
          </a:solidFill>
          <a:ln/>
        </p:spPr>
      </p:sp>
      <p:sp>
        <p:nvSpPr>
          <p:cNvPr id="4" name="Text 2"/>
          <p:cNvSpPr txBox="1"/>
          <p:nvPr/>
        </p:nvSpPr>
        <p:spPr>
          <a:xfrm>
            <a:off x="1234440" y="2267712"/>
            <a:ext cx="9966960" cy="411480"/>
          </a:xfrm>
          <a:prstGeom prst="rect">
            <a:avLst/>
          </a:prstGeom>
          <a:noFill/>
          <a:ln/>
        </p:spPr>
        <p:txBody>
          <a:bodyPr wrap="square" lIns="0" tIns="0" rIns="0" bIns="0" rtlCol="0" anchor="ctr"/>
          <a:lstStyle/>
          <a:p>
            <a:pPr indent="0" marL="0">
              <a:buNone/>
            </a:pPr>
            <a:r>
              <a:rPr lang="en-US" sz="1450" dirty="0">
                <a:solidFill>
                  <a:srgbClr val="12161B"/>
                </a:solidFill>
                <a:latin typeface="Calibri" pitchFamily="34" charset="0"/>
                <a:ea typeface="Calibri" pitchFamily="34" charset="-122"/>
                <a:cs typeface="Calibri" pitchFamily="34" charset="-120"/>
              </a:rPr>
              <a:t>A working measurement instrument running on 472 real Federal Reserve speeches</a:t>
            </a:r>
            <a:endParaRPr lang="en-US" sz="1450" dirty="0"/>
          </a:p>
        </p:txBody>
      </p:sp>
      <p:sp>
        <p:nvSpPr>
          <p:cNvPr id="5" name="Shape 3"/>
          <p:cNvSpPr/>
          <p:nvPr/>
        </p:nvSpPr>
        <p:spPr>
          <a:xfrm>
            <a:off x="868680" y="2962656"/>
            <a:ext cx="146304" cy="146304"/>
          </a:xfrm>
          <a:prstGeom prst="ellipse">
            <a:avLst/>
          </a:prstGeom>
          <a:solidFill>
            <a:srgbClr val="A86D16"/>
          </a:solidFill>
          <a:ln/>
        </p:spPr>
      </p:sp>
      <p:sp>
        <p:nvSpPr>
          <p:cNvPr id="6" name="Text 4"/>
          <p:cNvSpPr txBox="1"/>
          <p:nvPr/>
        </p:nvSpPr>
        <p:spPr>
          <a:xfrm>
            <a:off x="1234440" y="2834640"/>
            <a:ext cx="9966960" cy="411480"/>
          </a:xfrm>
          <a:prstGeom prst="rect">
            <a:avLst/>
          </a:prstGeom>
          <a:noFill/>
          <a:ln/>
        </p:spPr>
        <p:txBody>
          <a:bodyPr wrap="square" lIns="0" tIns="0" rIns="0" bIns="0" rtlCol="0" anchor="ctr"/>
          <a:lstStyle/>
          <a:p>
            <a:pPr indent="0" marL="0">
              <a:buNone/>
            </a:pPr>
            <a:r>
              <a:rPr lang="en-US" sz="1450" dirty="0">
                <a:solidFill>
                  <a:srgbClr val="12161B"/>
                </a:solidFill>
                <a:latin typeface="Calibri" pitchFamily="34" charset="0"/>
                <a:ea typeface="Calibri" pitchFamily="34" charset="-122"/>
                <a:cs typeface="Calibri" pitchFamily="34" charset="-120"/>
              </a:rPr>
              <a:t>A treatment assignment published by the Fed, not chosen by us</a:t>
            </a:r>
            <a:endParaRPr lang="en-US" sz="1450" dirty="0"/>
          </a:p>
        </p:txBody>
      </p:sp>
      <p:sp>
        <p:nvSpPr>
          <p:cNvPr id="7" name="Shape 5"/>
          <p:cNvSpPr/>
          <p:nvPr/>
        </p:nvSpPr>
        <p:spPr>
          <a:xfrm>
            <a:off x="868680" y="3529584"/>
            <a:ext cx="146304" cy="146304"/>
          </a:xfrm>
          <a:prstGeom prst="ellipse">
            <a:avLst/>
          </a:prstGeom>
          <a:solidFill>
            <a:srgbClr val="A86D16"/>
          </a:solidFill>
          <a:ln/>
        </p:spPr>
      </p:sp>
      <p:sp>
        <p:nvSpPr>
          <p:cNvPr id="8" name="Text 6"/>
          <p:cNvSpPr txBox="1"/>
          <p:nvPr/>
        </p:nvSpPr>
        <p:spPr>
          <a:xfrm>
            <a:off x="1234440" y="3401568"/>
            <a:ext cx="9966960" cy="411480"/>
          </a:xfrm>
          <a:prstGeom prst="rect">
            <a:avLst/>
          </a:prstGeom>
          <a:noFill/>
          <a:ln/>
        </p:spPr>
        <p:txBody>
          <a:bodyPr wrap="square" lIns="0" tIns="0" rIns="0" bIns="0" rtlCol="0" anchor="ctr"/>
          <a:lstStyle/>
          <a:p>
            <a:pPr indent="0" marL="0">
              <a:buNone/>
            </a:pPr>
            <a:r>
              <a:rPr lang="en-US" sz="1450" dirty="0">
                <a:solidFill>
                  <a:srgbClr val="12161B"/>
                </a:solidFill>
                <a:latin typeface="Calibri" pitchFamily="34" charset="0"/>
                <a:ea typeface="Calibri" pitchFamily="34" charset="-122"/>
                <a:cs typeface="Calibri" pitchFamily="34" charset="-120"/>
              </a:rPr>
              <a:t>Live scoring in the browser — offline, no server, no transcript leaves the machine</a:t>
            </a:r>
            <a:endParaRPr lang="en-US" sz="1450" dirty="0"/>
          </a:p>
        </p:txBody>
      </p:sp>
      <p:sp>
        <p:nvSpPr>
          <p:cNvPr id="9" name="Shape 7"/>
          <p:cNvSpPr/>
          <p:nvPr/>
        </p:nvSpPr>
        <p:spPr>
          <a:xfrm>
            <a:off x="868680" y="4096512"/>
            <a:ext cx="146304" cy="146304"/>
          </a:xfrm>
          <a:prstGeom prst="ellipse">
            <a:avLst/>
          </a:prstGeom>
          <a:solidFill>
            <a:srgbClr val="A86D16"/>
          </a:solidFill>
          <a:ln/>
        </p:spPr>
      </p:sp>
      <p:sp>
        <p:nvSpPr>
          <p:cNvPr id="10" name="Text 8"/>
          <p:cNvSpPr txBox="1"/>
          <p:nvPr/>
        </p:nvSpPr>
        <p:spPr>
          <a:xfrm>
            <a:off x="1234440" y="3968496"/>
            <a:ext cx="9966960" cy="411480"/>
          </a:xfrm>
          <a:prstGeom prst="rect">
            <a:avLst/>
          </a:prstGeom>
          <a:noFill/>
          <a:ln/>
        </p:spPr>
        <p:txBody>
          <a:bodyPr wrap="square" lIns="0" tIns="0" rIns="0" bIns="0" rtlCol="0" anchor="ctr"/>
          <a:lstStyle/>
          <a:p>
            <a:pPr indent="0" marL="0">
              <a:buNone/>
            </a:pPr>
            <a:r>
              <a:rPr lang="en-US" sz="1450" dirty="0">
                <a:solidFill>
                  <a:srgbClr val="12161B"/>
                </a:solidFill>
                <a:latin typeface="Calibri" pitchFamily="34" charset="0"/>
                <a:ea typeface="Calibri" pitchFamily="34" charset="-122"/>
                <a:cs typeface="Calibri" pitchFamily="34" charset="-120"/>
              </a:rPr>
              <a:t>A full audit trail: every score traces to a counted phrase or a fitted parameter</a:t>
            </a:r>
            <a:endParaRPr lang="en-US" sz="1450" dirty="0"/>
          </a:p>
        </p:txBody>
      </p:sp>
      <p:sp>
        <p:nvSpPr>
          <p:cNvPr id="11" name="Shape 9"/>
          <p:cNvSpPr/>
          <p:nvPr/>
        </p:nvSpPr>
        <p:spPr>
          <a:xfrm>
            <a:off x="868680" y="4663440"/>
            <a:ext cx="146304" cy="146304"/>
          </a:xfrm>
          <a:prstGeom prst="ellipse">
            <a:avLst/>
          </a:prstGeom>
          <a:solidFill>
            <a:srgbClr val="A86D16"/>
          </a:solidFill>
          <a:ln/>
        </p:spPr>
      </p:sp>
      <p:sp>
        <p:nvSpPr>
          <p:cNvPr id="12" name="Text 10"/>
          <p:cNvSpPr txBox="1"/>
          <p:nvPr/>
        </p:nvSpPr>
        <p:spPr>
          <a:xfrm>
            <a:off x="1234440" y="4535424"/>
            <a:ext cx="9966960" cy="411480"/>
          </a:xfrm>
          <a:prstGeom prst="rect">
            <a:avLst/>
          </a:prstGeom>
          <a:noFill/>
          <a:ln/>
        </p:spPr>
        <p:txBody>
          <a:bodyPr wrap="square" lIns="0" tIns="0" rIns="0" bIns="0" rtlCol="0" anchor="ctr"/>
          <a:lstStyle/>
          <a:p>
            <a:pPr indent="0" marL="0">
              <a:buNone/>
            </a:pPr>
            <a:r>
              <a:rPr lang="en-US" sz="1450" dirty="0">
                <a:solidFill>
                  <a:srgbClr val="12161B"/>
                </a:solidFill>
                <a:latin typeface="Calibri" pitchFamily="34" charset="0"/>
                <a:ea typeface="Calibri" pitchFamily="34" charset="-122"/>
                <a:cs typeface="Calibri" pitchFamily="34" charset="-120"/>
              </a:rPr>
              <a:t>62 tests, and two of four validation studies reported as failures</a:t>
            </a:r>
            <a:endParaRPr lang="en-US" sz="1450" dirty="0"/>
          </a:p>
        </p:txBody>
      </p:sp>
      <p:sp>
        <p:nvSpPr>
          <p:cNvPr id="13" name="Text 11"/>
          <p:cNvSpPr txBox="1"/>
          <p:nvPr/>
        </p:nvSpPr>
        <p:spPr>
          <a:xfrm>
            <a:off x="822960" y="5623560"/>
            <a:ext cx="5486400" cy="411480"/>
          </a:xfrm>
          <a:prstGeom prst="rect">
            <a:avLst/>
          </a:prstGeom>
          <a:noFill/>
          <a:ln/>
        </p:spPr>
        <p:txBody>
          <a:bodyPr wrap="square" lIns="0" tIns="0" rIns="0" bIns="0" rtlCol="0" anchor="ctr"/>
          <a:lstStyle/>
          <a:p>
            <a:pPr indent="0" marL="0">
              <a:buNone/>
            </a:pPr>
            <a:r>
              <a:rPr lang="en-US" sz="1900" b="1" dirty="0">
                <a:solidFill>
                  <a:srgbClr val="12161B"/>
                </a:solidFill>
                <a:latin typeface="Cambria" pitchFamily="34" charset="0"/>
                <a:ea typeface="Cambria" pitchFamily="34" charset="-122"/>
                <a:cs typeface="Cambria" pitchFamily="34" charset="-120"/>
              </a:rPr>
              <a:t>Theroux Technologies</a:t>
            </a:r>
            <a:endParaRPr lang="en-US" sz="1900" dirty="0"/>
          </a:p>
        </p:txBody>
      </p:sp>
      <p:sp>
        <p:nvSpPr>
          <p:cNvPr id="14" name="Text 12"/>
          <p:cNvSpPr txBox="1"/>
          <p:nvPr/>
        </p:nvSpPr>
        <p:spPr>
          <a:xfrm>
            <a:off x="822960" y="6035040"/>
            <a:ext cx="5486400" cy="320040"/>
          </a:xfrm>
          <a:prstGeom prst="rect">
            <a:avLst/>
          </a:prstGeom>
          <a:noFill/>
          <a:ln/>
        </p:spPr>
        <p:txBody>
          <a:bodyPr wrap="square" lIns="0" tIns="0" rIns="0" bIns="0" rtlCol="0" anchor="ctr"/>
          <a:lstStyle/>
          <a:p>
            <a:pPr indent="0" marL="0">
              <a:buNone/>
            </a:pPr>
            <a:r>
              <a:rPr lang="en-US" sz="1150" dirty="0">
                <a:solidFill>
                  <a:srgbClr val="6C727B"/>
                </a:solidFill>
                <a:latin typeface="Courier New" pitchFamily="34" charset="0"/>
                <a:ea typeface="Courier New" pitchFamily="34" charset="-122"/>
                <a:cs typeface="Courier New" pitchFamily="34" charset="-120"/>
              </a:rPr>
              <a:t>therouxtechnologies.com</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Theroux — Constrained Disclosure Measurement</dc:title>
  <dc:subject>PptxGenJS Presentation</dc:subject>
  <dc:creator>Theroux Technologies</dc:creator>
  <cp:lastModifiedBy>Theroux Technologies</cp:lastModifiedBy>
  <cp:revision>1</cp:revision>
  <dcterms:created xsi:type="dcterms:W3CDTF">2026-09-05T05:34:46Z</dcterms:created>
  <dcterms:modified xsi:type="dcterms:W3CDTF">2026-09-05T05:34:46Z</dcterms:modified>
</cp:coreProperties>
</file>